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rial Bold" panose="020B0704020202020204" pitchFamily="34" charset="0"/>
      <p:regular r:id="rId14"/>
      <p:bold r:id="rId15"/>
    </p:embeddedFont>
    <p:embeddedFont>
      <p:font typeface="Cabin" panose="020B0604020202020204" charset="0"/>
      <p:regular r:id="rId16"/>
    </p:embeddedFont>
    <p:embeddedFont>
      <p:font typeface="Cabin Semi-Bold" panose="020B0604020202020204" charset="0"/>
      <p:regular r:id="rId17"/>
    </p:embeddedFont>
    <p:embeddedFont>
      <p:font typeface="Muli" panose="020B0604020202020204" charset="0"/>
      <p:regular r:id="rId18"/>
    </p:embeddedFont>
    <p:embeddedFont>
      <p:font typeface="Muli Bold" panose="020B0604020202020204" charset="0"/>
      <p:regular r:id="rId19"/>
    </p:embeddedFont>
    <p:embeddedFont>
      <p:font typeface="Muli Bold Italics" panose="020B0604020202020204" charset="0"/>
      <p:regular r:id="rId20"/>
    </p:embeddedFont>
    <p:embeddedFont>
      <p:font typeface="Muli Italic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AutoShape 2"/>
          <p:cNvSpPr/>
          <p:nvPr/>
        </p:nvSpPr>
        <p:spPr>
          <a:xfrm>
            <a:off x="38100" y="9639300"/>
            <a:ext cx="18288000" cy="4762"/>
          </a:xfrm>
          <a:prstGeom prst="line">
            <a:avLst/>
          </a:prstGeom>
          <a:ln w="9525" cap="flat">
            <a:solidFill>
              <a:srgbClr val="000000"/>
            </a:solidFill>
            <a:prstDash val="solid"/>
            <a:headEnd type="none" w="sm" len="sm"/>
            <a:tailEnd type="none" w="sm" len="sm"/>
          </a:ln>
        </p:spPr>
      </p:sp>
      <p:sp>
        <p:nvSpPr>
          <p:cNvPr id="3" name="Freeform 3"/>
          <p:cNvSpPr/>
          <p:nvPr/>
        </p:nvSpPr>
        <p:spPr>
          <a:xfrm>
            <a:off x="1600200" y="512446"/>
            <a:ext cx="14744648" cy="2361572"/>
          </a:xfrm>
          <a:custGeom>
            <a:avLst/>
            <a:gdLst/>
            <a:ahLst/>
            <a:cxnLst/>
            <a:rect l="l" t="t" r="r" b="b"/>
            <a:pathLst>
              <a:path w="14744648" h="2361572">
                <a:moveTo>
                  <a:pt x="0" y="0"/>
                </a:moveTo>
                <a:lnTo>
                  <a:pt x="14744648" y="0"/>
                </a:lnTo>
                <a:lnTo>
                  <a:pt x="14744648" y="2361572"/>
                </a:lnTo>
                <a:lnTo>
                  <a:pt x="0" y="2361572"/>
                </a:lnTo>
                <a:lnTo>
                  <a:pt x="0" y="0"/>
                </a:lnTo>
                <a:close/>
              </a:path>
            </a:pathLst>
          </a:custGeom>
          <a:blipFill>
            <a:blip r:embed="rId2"/>
            <a:stretch>
              <a:fillRect t="-3158" b="-2722"/>
            </a:stretch>
          </a:blipFill>
          <a:ln cap="sq">
            <a:noFill/>
            <a:prstDash val="sysDot"/>
            <a:miter/>
          </a:ln>
        </p:spPr>
      </p:sp>
      <p:sp>
        <p:nvSpPr>
          <p:cNvPr id="4" name="TextBox 4"/>
          <p:cNvSpPr txBox="1"/>
          <p:nvPr/>
        </p:nvSpPr>
        <p:spPr>
          <a:xfrm>
            <a:off x="914400" y="3535638"/>
            <a:ext cx="15574626" cy="2885536"/>
          </a:xfrm>
          <a:prstGeom prst="rect">
            <a:avLst/>
          </a:prstGeom>
        </p:spPr>
        <p:txBody>
          <a:bodyPr lIns="0" tIns="0" rIns="0" bIns="0" rtlCol="0" anchor="t">
            <a:spAutoFit/>
          </a:bodyPr>
          <a:lstStyle/>
          <a:p>
            <a:pPr algn="ctr">
              <a:lnSpc>
                <a:spcPts val="7606"/>
              </a:lnSpc>
            </a:pPr>
            <a:r>
              <a:rPr lang="en-US" sz="6915" b="1" dirty="0">
                <a:solidFill>
                  <a:srgbClr val="1C2120"/>
                </a:solidFill>
                <a:latin typeface="Arial Bold"/>
                <a:ea typeface="Arial Bold"/>
                <a:cs typeface="Arial Bold"/>
                <a:sym typeface="Arial Bold"/>
              </a:rPr>
              <a:t>ỨNG DỤNG MỘT SỐ PHƯƠNG PHÁP SẮP XẾP TRÊN DANH SÁCH </a:t>
            </a:r>
          </a:p>
          <a:p>
            <a:pPr algn="ctr">
              <a:lnSpc>
                <a:spcPts val="7150"/>
              </a:lnSpc>
            </a:pPr>
            <a:r>
              <a:rPr lang="en-US" sz="6500" b="1" dirty="0">
                <a:solidFill>
                  <a:srgbClr val="1C2120"/>
                </a:solidFill>
                <a:latin typeface="Arial Bold"/>
                <a:ea typeface="Arial Bold"/>
                <a:cs typeface="Arial Bold"/>
                <a:sym typeface="Arial Bold"/>
              </a:rPr>
              <a:t>LIÊN KẾT KÉP</a:t>
            </a:r>
          </a:p>
        </p:txBody>
      </p:sp>
      <p:sp>
        <p:nvSpPr>
          <p:cNvPr id="5" name="TextBox 5"/>
          <p:cNvSpPr txBox="1"/>
          <p:nvPr/>
        </p:nvSpPr>
        <p:spPr>
          <a:xfrm>
            <a:off x="9201150" y="7016120"/>
            <a:ext cx="4953361" cy="1661795"/>
          </a:xfrm>
          <a:prstGeom prst="rect">
            <a:avLst/>
          </a:prstGeom>
        </p:spPr>
        <p:txBody>
          <a:bodyPr lIns="0" tIns="0" rIns="0" bIns="0" rtlCol="0" anchor="t">
            <a:spAutoFit/>
          </a:bodyPr>
          <a:lstStyle/>
          <a:p>
            <a:pPr algn="l">
              <a:lnSpc>
                <a:spcPts val="4479"/>
              </a:lnSpc>
            </a:pPr>
            <a:r>
              <a:rPr lang="en-US" sz="3199" dirty="0">
                <a:solidFill>
                  <a:srgbClr val="1C2120"/>
                </a:solidFill>
                <a:latin typeface="Muli"/>
                <a:ea typeface="Muli"/>
                <a:cs typeface="Muli"/>
                <a:sym typeface="Muli"/>
              </a:rPr>
              <a:t>Sinh </a:t>
            </a:r>
            <a:r>
              <a:rPr lang="en-US" sz="3199" dirty="0" err="1">
                <a:solidFill>
                  <a:srgbClr val="1C2120"/>
                </a:solidFill>
                <a:latin typeface="Muli"/>
                <a:ea typeface="Muli"/>
                <a:cs typeface="Muli"/>
                <a:sym typeface="Muli"/>
              </a:rPr>
              <a:t>viên</a:t>
            </a:r>
            <a:r>
              <a:rPr lang="en-US" sz="3199" dirty="0">
                <a:solidFill>
                  <a:srgbClr val="1C2120"/>
                </a:solidFill>
                <a:latin typeface="Muli"/>
                <a:ea typeface="Muli"/>
                <a:cs typeface="Muli"/>
                <a:sym typeface="Muli"/>
              </a:rPr>
              <a:t> </a:t>
            </a:r>
            <a:r>
              <a:rPr lang="en-US" sz="3199" dirty="0" err="1">
                <a:solidFill>
                  <a:srgbClr val="1C2120"/>
                </a:solidFill>
                <a:latin typeface="Muli"/>
                <a:ea typeface="Muli"/>
                <a:cs typeface="Muli"/>
                <a:sym typeface="Muli"/>
              </a:rPr>
              <a:t>thực</a:t>
            </a:r>
            <a:r>
              <a:rPr lang="en-US" sz="3199" dirty="0">
                <a:solidFill>
                  <a:srgbClr val="1C2120"/>
                </a:solidFill>
                <a:latin typeface="Muli"/>
                <a:ea typeface="Muli"/>
                <a:cs typeface="Muli"/>
                <a:sym typeface="Muli"/>
              </a:rPr>
              <a:t> </a:t>
            </a:r>
            <a:r>
              <a:rPr lang="en-US" sz="3199" dirty="0" err="1">
                <a:solidFill>
                  <a:srgbClr val="1C2120"/>
                </a:solidFill>
                <a:latin typeface="Muli"/>
                <a:ea typeface="Muli"/>
                <a:cs typeface="Muli"/>
                <a:sym typeface="Muli"/>
              </a:rPr>
              <a:t>hiện</a:t>
            </a:r>
            <a:r>
              <a:rPr lang="en-US" sz="3199" dirty="0">
                <a:solidFill>
                  <a:srgbClr val="1C2120"/>
                </a:solidFill>
                <a:latin typeface="Muli"/>
                <a:ea typeface="Muli"/>
                <a:cs typeface="Muli"/>
                <a:sym typeface="Muli"/>
              </a:rPr>
              <a:t>:</a:t>
            </a:r>
          </a:p>
          <a:p>
            <a:pPr algn="l">
              <a:lnSpc>
                <a:spcPts val="4479"/>
              </a:lnSpc>
            </a:pPr>
            <a:r>
              <a:rPr lang="en-US" sz="3199" dirty="0">
                <a:solidFill>
                  <a:srgbClr val="1C2120"/>
                </a:solidFill>
                <a:latin typeface="Muli"/>
                <a:ea typeface="Muli"/>
                <a:cs typeface="Muli"/>
                <a:sym typeface="Muli"/>
              </a:rPr>
              <a:t>Hà Thanh Trường Lam</a:t>
            </a:r>
          </a:p>
          <a:p>
            <a:pPr algn="l">
              <a:lnSpc>
                <a:spcPts val="4479"/>
              </a:lnSpc>
            </a:pPr>
            <a:r>
              <a:rPr lang="en-US" sz="3199" dirty="0">
                <a:solidFill>
                  <a:srgbClr val="1C2120"/>
                </a:solidFill>
                <a:latin typeface="Muli"/>
                <a:ea typeface="Muli"/>
                <a:cs typeface="Muli"/>
                <a:sym typeface="Muli"/>
              </a:rPr>
              <a:t>DA23TTC</a:t>
            </a:r>
          </a:p>
        </p:txBody>
      </p:sp>
      <p:sp>
        <p:nvSpPr>
          <p:cNvPr id="6" name="TextBox 6"/>
          <p:cNvSpPr txBox="1"/>
          <p:nvPr/>
        </p:nvSpPr>
        <p:spPr>
          <a:xfrm>
            <a:off x="3124200" y="7025645"/>
            <a:ext cx="4273301" cy="1099820"/>
          </a:xfrm>
          <a:prstGeom prst="rect">
            <a:avLst/>
          </a:prstGeom>
        </p:spPr>
        <p:txBody>
          <a:bodyPr lIns="0" tIns="0" rIns="0" bIns="0" rtlCol="0" anchor="t">
            <a:spAutoFit/>
          </a:bodyPr>
          <a:lstStyle/>
          <a:p>
            <a:pPr algn="l">
              <a:lnSpc>
                <a:spcPts val="4479"/>
              </a:lnSpc>
            </a:pPr>
            <a:r>
              <a:rPr lang="en-US" sz="3199" dirty="0" err="1">
                <a:solidFill>
                  <a:srgbClr val="1C2120"/>
                </a:solidFill>
                <a:latin typeface="Muli"/>
                <a:ea typeface="Muli"/>
                <a:cs typeface="Muli"/>
                <a:sym typeface="Muli"/>
              </a:rPr>
              <a:t>Giáo</a:t>
            </a:r>
            <a:r>
              <a:rPr lang="en-US" sz="3199" dirty="0">
                <a:solidFill>
                  <a:srgbClr val="1C2120"/>
                </a:solidFill>
                <a:latin typeface="Muli"/>
                <a:ea typeface="Muli"/>
                <a:cs typeface="Muli"/>
                <a:sym typeface="Muli"/>
              </a:rPr>
              <a:t> </a:t>
            </a:r>
            <a:r>
              <a:rPr lang="en-US" sz="3199" dirty="0" err="1">
                <a:solidFill>
                  <a:srgbClr val="1C2120"/>
                </a:solidFill>
                <a:latin typeface="Muli"/>
                <a:ea typeface="Muli"/>
                <a:cs typeface="Muli"/>
                <a:sym typeface="Muli"/>
              </a:rPr>
              <a:t>viên</a:t>
            </a:r>
            <a:r>
              <a:rPr lang="en-US" sz="3199" dirty="0">
                <a:solidFill>
                  <a:srgbClr val="1C2120"/>
                </a:solidFill>
                <a:latin typeface="Muli"/>
                <a:ea typeface="Muli"/>
                <a:cs typeface="Muli"/>
                <a:sym typeface="Muli"/>
              </a:rPr>
              <a:t> </a:t>
            </a:r>
            <a:r>
              <a:rPr lang="en-US" sz="3199" dirty="0" err="1">
                <a:solidFill>
                  <a:srgbClr val="1C2120"/>
                </a:solidFill>
                <a:latin typeface="Muli"/>
                <a:ea typeface="Muli"/>
                <a:cs typeface="Muli"/>
                <a:sym typeface="Muli"/>
              </a:rPr>
              <a:t>hướng</a:t>
            </a:r>
            <a:r>
              <a:rPr lang="en-US" sz="3199" dirty="0">
                <a:solidFill>
                  <a:srgbClr val="1C2120"/>
                </a:solidFill>
                <a:latin typeface="Muli"/>
                <a:ea typeface="Muli"/>
                <a:cs typeface="Muli"/>
                <a:sym typeface="Muli"/>
              </a:rPr>
              <a:t> </a:t>
            </a:r>
            <a:r>
              <a:rPr lang="en-US" sz="3199" dirty="0" err="1">
                <a:solidFill>
                  <a:srgbClr val="1C2120"/>
                </a:solidFill>
                <a:latin typeface="Muli"/>
                <a:ea typeface="Muli"/>
                <a:cs typeface="Muli"/>
                <a:sym typeface="Muli"/>
              </a:rPr>
              <a:t>dẫn</a:t>
            </a:r>
            <a:r>
              <a:rPr lang="en-US" sz="3199" dirty="0">
                <a:solidFill>
                  <a:srgbClr val="1C2120"/>
                </a:solidFill>
                <a:latin typeface="Muli"/>
                <a:ea typeface="Muli"/>
                <a:cs typeface="Muli"/>
                <a:sym typeface="Muli"/>
              </a:rPr>
              <a:t>:</a:t>
            </a:r>
          </a:p>
          <a:p>
            <a:pPr algn="l">
              <a:lnSpc>
                <a:spcPts val="4479"/>
              </a:lnSpc>
            </a:pPr>
            <a:r>
              <a:rPr lang="en-US" sz="3199" dirty="0" err="1">
                <a:solidFill>
                  <a:srgbClr val="1C2120"/>
                </a:solidFill>
                <a:latin typeface="Muli"/>
                <a:ea typeface="Muli"/>
                <a:cs typeface="Muli"/>
                <a:sym typeface="Muli"/>
              </a:rPr>
              <a:t>Ths</a:t>
            </a:r>
            <a:r>
              <a:rPr lang="en-US" sz="3199" dirty="0">
                <a:solidFill>
                  <a:srgbClr val="1C2120"/>
                </a:solidFill>
                <a:latin typeface="Muli"/>
                <a:ea typeface="Muli"/>
                <a:cs typeface="Muli"/>
                <a:sym typeface="Muli"/>
              </a:rPr>
              <a:t>. Lê Minh </a:t>
            </a:r>
            <a:r>
              <a:rPr lang="en-US" sz="3199" dirty="0" err="1">
                <a:solidFill>
                  <a:srgbClr val="1C2120"/>
                </a:solidFill>
                <a:latin typeface="Muli"/>
                <a:ea typeface="Muli"/>
                <a:cs typeface="Muli"/>
                <a:sym typeface="Muli"/>
              </a:rPr>
              <a:t>Tự</a:t>
            </a:r>
            <a:endParaRPr lang="en-US" sz="3199" dirty="0">
              <a:solidFill>
                <a:srgbClr val="1C2120"/>
              </a:solidFill>
              <a:latin typeface="Muli"/>
              <a:ea typeface="Muli"/>
              <a:cs typeface="Muli"/>
              <a:sym typeface="Mul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a:off x="9139238" y="1556016"/>
            <a:ext cx="4762" cy="8240444"/>
          </a:xfrm>
          <a:prstGeom prst="line">
            <a:avLst/>
          </a:prstGeom>
          <a:ln w="9525" cap="flat">
            <a:solidFill>
              <a:srgbClr val="000000"/>
            </a:solidFill>
            <a:prstDash val="solid"/>
            <a:headEnd type="none" w="sm" len="sm"/>
            <a:tailEnd type="none" w="sm" len="sm"/>
          </a:ln>
        </p:spPr>
      </p:sp>
      <p:sp>
        <p:nvSpPr>
          <p:cNvPr id="3" name="AutoShape 3"/>
          <p:cNvSpPr/>
          <p:nvPr/>
        </p:nvSpPr>
        <p:spPr>
          <a:xfrm>
            <a:off x="-1272978" y="1556016"/>
            <a:ext cx="20457476" cy="0"/>
          </a:xfrm>
          <a:prstGeom prst="line">
            <a:avLst/>
          </a:prstGeom>
          <a:ln w="9525" cap="flat">
            <a:solidFill>
              <a:srgbClr val="000000"/>
            </a:solidFill>
            <a:prstDash val="solid"/>
            <a:headEnd type="none" w="sm" len="sm"/>
            <a:tailEnd type="none" w="sm" len="sm"/>
          </a:ln>
        </p:spPr>
      </p:sp>
      <p:sp>
        <p:nvSpPr>
          <p:cNvPr id="4" name="TextBox 4"/>
          <p:cNvSpPr txBox="1"/>
          <p:nvPr/>
        </p:nvSpPr>
        <p:spPr>
          <a:xfrm>
            <a:off x="7041985" y="-10846"/>
            <a:ext cx="4690797" cy="1381125"/>
          </a:xfrm>
          <a:prstGeom prst="rect">
            <a:avLst/>
          </a:prstGeom>
        </p:spPr>
        <p:txBody>
          <a:bodyPr lIns="0" tIns="0" rIns="0" bIns="0" rtlCol="0" anchor="t">
            <a:spAutoFit/>
          </a:bodyPr>
          <a:lstStyle/>
          <a:p>
            <a:pPr algn="l">
              <a:lnSpc>
                <a:spcPts val="10800"/>
              </a:lnSpc>
            </a:pPr>
            <a:r>
              <a:rPr lang="en-US" sz="9000" b="1">
                <a:solidFill>
                  <a:srgbClr val="000000"/>
                </a:solidFill>
                <a:latin typeface="Cabin Semi-Bold"/>
                <a:ea typeface="Cabin Semi-Bold"/>
                <a:cs typeface="Cabin Semi-Bold"/>
                <a:sym typeface="Cabin Semi-Bold"/>
              </a:rPr>
              <a:t>Giới thiệu</a:t>
            </a:r>
          </a:p>
        </p:txBody>
      </p:sp>
      <p:sp>
        <p:nvSpPr>
          <p:cNvPr id="5" name="TextBox 5"/>
          <p:cNvSpPr txBox="1"/>
          <p:nvPr/>
        </p:nvSpPr>
        <p:spPr>
          <a:xfrm>
            <a:off x="307129" y="1804987"/>
            <a:ext cx="8120526" cy="3488690"/>
          </a:xfrm>
          <a:prstGeom prst="rect">
            <a:avLst/>
          </a:prstGeom>
        </p:spPr>
        <p:txBody>
          <a:bodyPr lIns="0" tIns="0" rIns="0" bIns="0" rtlCol="0" anchor="t">
            <a:spAutoFit/>
          </a:bodyPr>
          <a:lstStyle/>
          <a:p>
            <a:pPr algn="l">
              <a:lnSpc>
                <a:spcPts val="4200"/>
              </a:lnSpc>
            </a:pPr>
            <a:r>
              <a:rPr lang="en-US" sz="3000" b="1" i="1">
                <a:solidFill>
                  <a:srgbClr val="000000"/>
                </a:solidFill>
                <a:latin typeface="Muli Bold Italics"/>
                <a:ea typeface="Muli Bold Italics"/>
                <a:cs typeface="Muli Bold Italics"/>
                <a:sym typeface="Muli Bold Italics"/>
              </a:rPr>
              <a:t>1. Lý do chọn đề tài: </a:t>
            </a:r>
          </a:p>
          <a:p>
            <a:pPr algn="l">
              <a:lnSpc>
                <a:spcPts val="3919"/>
              </a:lnSpc>
            </a:pPr>
            <a:r>
              <a:rPr lang="en-US" sz="2799">
                <a:solidFill>
                  <a:srgbClr val="000000"/>
                </a:solidFill>
                <a:latin typeface="Muli"/>
                <a:ea typeface="Muli"/>
                <a:cs typeface="Muli"/>
                <a:sym typeface="Muli"/>
              </a:rPr>
              <a:t>Sắp xếp dữ liệu là một trong những bài toán cơ bản và quan trọng nhất trong lập trình. Việc nắm vững các thuật toán sắp xếp trên các cấu trúc dữ liệu động như Danh sách liên kết kép giúp tối ưu hóa việc quản lý thông tin trong các hệ thống thực tế.</a:t>
            </a:r>
          </a:p>
        </p:txBody>
      </p:sp>
      <p:sp>
        <p:nvSpPr>
          <p:cNvPr id="6" name="AutoShape 6"/>
          <p:cNvSpPr/>
          <p:nvPr/>
        </p:nvSpPr>
        <p:spPr>
          <a:xfrm>
            <a:off x="-1268216" y="5479415"/>
            <a:ext cx="20867107" cy="0"/>
          </a:xfrm>
          <a:prstGeom prst="line">
            <a:avLst/>
          </a:prstGeom>
          <a:ln w="9525" cap="flat">
            <a:solidFill>
              <a:srgbClr val="000000"/>
            </a:solidFill>
            <a:prstDash val="solid"/>
            <a:headEnd type="none" w="sm" len="sm"/>
            <a:tailEnd type="none" w="sm" len="sm"/>
          </a:ln>
        </p:spPr>
      </p:sp>
      <p:sp>
        <p:nvSpPr>
          <p:cNvPr id="7" name="TextBox 7"/>
          <p:cNvSpPr txBox="1"/>
          <p:nvPr/>
        </p:nvSpPr>
        <p:spPr>
          <a:xfrm>
            <a:off x="9708758" y="1804987"/>
            <a:ext cx="8120526" cy="2462530"/>
          </a:xfrm>
          <a:prstGeom prst="rect">
            <a:avLst/>
          </a:prstGeom>
        </p:spPr>
        <p:txBody>
          <a:bodyPr lIns="0" tIns="0" rIns="0" bIns="0" rtlCol="0" anchor="t">
            <a:spAutoFit/>
          </a:bodyPr>
          <a:lstStyle/>
          <a:p>
            <a:pPr algn="l">
              <a:lnSpc>
                <a:spcPts val="3919"/>
              </a:lnSpc>
            </a:pPr>
            <a:r>
              <a:rPr lang="en-US" sz="2799" b="1" i="1">
                <a:solidFill>
                  <a:srgbClr val="000000"/>
                </a:solidFill>
                <a:latin typeface="Muli Bold Italics"/>
                <a:ea typeface="Muli Bold Italics"/>
                <a:cs typeface="Muli Bold Italics"/>
                <a:sym typeface="Muli Bold Italics"/>
              </a:rPr>
              <a:t>2. Xây dựng cấu trúc dữ liệu: </a:t>
            </a:r>
          </a:p>
          <a:p>
            <a:pPr algn="l">
              <a:lnSpc>
                <a:spcPts val="3919"/>
              </a:lnSpc>
            </a:pPr>
            <a:r>
              <a:rPr lang="en-US" sz="2799">
                <a:solidFill>
                  <a:srgbClr val="000000"/>
                </a:solidFill>
                <a:latin typeface="Muli"/>
                <a:ea typeface="Muli"/>
                <a:cs typeface="Muli"/>
                <a:sym typeface="Muli"/>
              </a:rPr>
              <a:t>Định nghĩa và quản lý thông tin sinh viên bằng Danh sách liên kết kép (Doubly Linked List). Cấu trúc này cho phép duyệt dữ liệu hai chiều (tới và lui) linh hoạt thông qua các con trỏ next và prev.</a:t>
            </a:r>
          </a:p>
        </p:txBody>
      </p:sp>
      <p:sp>
        <p:nvSpPr>
          <p:cNvPr id="8" name="TextBox 8"/>
          <p:cNvSpPr txBox="1"/>
          <p:nvPr/>
        </p:nvSpPr>
        <p:spPr>
          <a:xfrm>
            <a:off x="307129" y="5912803"/>
            <a:ext cx="8120526" cy="2462530"/>
          </a:xfrm>
          <a:prstGeom prst="rect">
            <a:avLst/>
          </a:prstGeom>
        </p:spPr>
        <p:txBody>
          <a:bodyPr lIns="0" tIns="0" rIns="0" bIns="0" rtlCol="0" anchor="t">
            <a:spAutoFit/>
          </a:bodyPr>
          <a:lstStyle/>
          <a:p>
            <a:pPr algn="l">
              <a:lnSpc>
                <a:spcPts val="3919"/>
              </a:lnSpc>
            </a:pPr>
            <a:r>
              <a:rPr lang="en-US" sz="2799" b="1" i="1">
                <a:solidFill>
                  <a:srgbClr val="000000"/>
                </a:solidFill>
                <a:latin typeface="Muli Bold Italics"/>
                <a:ea typeface="Muli Bold Italics"/>
                <a:cs typeface="Muli Bold Italics"/>
                <a:sym typeface="Muli Bold Italics"/>
              </a:rPr>
              <a:t>3. Hiện thực hóa thuật toán: </a:t>
            </a:r>
          </a:p>
          <a:p>
            <a:pPr algn="l">
              <a:lnSpc>
                <a:spcPts val="3919"/>
              </a:lnSpc>
            </a:pPr>
            <a:r>
              <a:rPr lang="en-US" sz="2799">
                <a:solidFill>
                  <a:srgbClr val="000000"/>
                </a:solidFill>
                <a:latin typeface="Muli"/>
                <a:ea typeface="Muli"/>
                <a:cs typeface="Muli"/>
                <a:sym typeface="Muli"/>
              </a:rPr>
              <a:t>Cài đặt thành công 5 thuật toán sắp xếp từ cơ bản đến nâng cao bao gồm: Bubble Sort, Selection Sort, Insertion Sort, Merge Sort và Quick Sort.</a:t>
            </a:r>
          </a:p>
        </p:txBody>
      </p:sp>
      <p:sp>
        <p:nvSpPr>
          <p:cNvPr id="9" name="TextBox 9"/>
          <p:cNvSpPr txBox="1"/>
          <p:nvPr/>
        </p:nvSpPr>
        <p:spPr>
          <a:xfrm>
            <a:off x="9708758" y="5912803"/>
            <a:ext cx="8120526" cy="1967230"/>
          </a:xfrm>
          <a:prstGeom prst="rect">
            <a:avLst/>
          </a:prstGeom>
        </p:spPr>
        <p:txBody>
          <a:bodyPr lIns="0" tIns="0" rIns="0" bIns="0" rtlCol="0" anchor="t">
            <a:spAutoFit/>
          </a:bodyPr>
          <a:lstStyle/>
          <a:p>
            <a:pPr algn="l">
              <a:lnSpc>
                <a:spcPts val="3919"/>
              </a:lnSpc>
            </a:pPr>
            <a:r>
              <a:rPr lang="en-US" sz="2799" b="1" i="1">
                <a:solidFill>
                  <a:srgbClr val="000000"/>
                </a:solidFill>
                <a:latin typeface="Muli Bold Italics"/>
                <a:ea typeface="Muli Bold Italics"/>
                <a:cs typeface="Muli Bold Italics"/>
                <a:sym typeface="Muli Bold Italics"/>
              </a:rPr>
              <a:t>4. Tính ứng dụng: </a:t>
            </a:r>
          </a:p>
          <a:p>
            <a:pPr algn="l">
              <a:lnSpc>
                <a:spcPts val="3919"/>
              </a:lnSpc>
            </a:pPr>
            <a:r>
              <a:rPr lang="en-US" sz="2799">
                <a:solidFill>
                  <a:srgbClr val="000000"/>
                </a:solidFill>
                <a:latin typeface="Muli"/>
                <a:ea typeface="Muli"/>
                <a:cs typeface="Muli"/>
                <a:sym typeface="Muli"/>
              </a:rPr>
              <a:t>Cho phép người dùng tùy chọn sắp xếp danh sách sinh viên theo nhiều tiêu chí như Họ tên, Năm sinh hoặc Lớp.</a:t>
            </a:r>
          </a:p>
        </p:txBody>
      </p:sp>
      <p:sp>
        <p:nvSpPr>
          <p:cNvPr id="10" name="AutoShape 10"/>
          <p:cNvSpPr/>
          <p:nvPr/>
        </p:nvSpPr>
        <p:spPr>
          <a:xfrm>
            <a:off x="-287481" y="9796462"/>
            <a:ext cx="18575481" cy="0"/>
          </a:xfrm>
          <a:prstGeom prst="line">
            <a:avLst/>
          </a:prstGeom>
          <a:ln w="9525" cap="flat">
            <a:solidFill>
              <a:srgbClr val="000000"/>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TextBox 2"/>
          <p:cNvSpPr txBox="1"/>
          <p:nvPr/>
        </p:nvSpPr>
        <p:spPr>
          <a:xfrm>
            <a:off x="219521" y="1019175"/>
            <a:ext cx="17197350" cy="1381125"/>
          </a:xfrm>
          <a:prstGeom prst="rect">
            <a:avLst/>
          </a:prstGeom>
        </p:spPr>
        <p:txBody>
          <a:bodyPr lIns="0" tIns="0" rIns="0" bIns="0" rtlCol="0" anchor="t">
            <a:spAutoFit/>
          </a:bodyPr>
          <a:lstStyle/>
          <a:p>
            <a:pPr algn="ctr">
              <a:lnSpc>
                <a:spcPts val="10800"/>
              </a:lnSpc>
            </a:pPr>
            <a:r>
              <a:rPr lang="en-US" sz="9000" b="1">
                <a:solidFill>
                  <a:srgbClr val="1C2120"/>
                </a:solidFill>
                <a:latin typeface="Cabin Semi-Bold"/>
                <a:ea typeface="Cabin Semi-Bold"/>
                <a:cs typeface="Cabin Semi-Bold"/>
                <a:sym typeface="Cabin Semi-Bold"/>
              </a:rPr>
              <a:t>ĐỐI TƯỢNG NGHIÊN CỨU</a:t>
            </a:r>
          </a:p>
        </p:txBody>
      </p:sp>
      <p:sp>
        <p:nvSpPr>
          <p:cNvPr id="3" name="TextBox 3"/>
          <p:cNvSpPr txBox="1"/>
          <p:nvPr/>
        </p:nvSpPr>
        <p:spPr>
          <a:xfrm>
            <a:off x="721190" y="3191730"/>
            <a:ext cx="16845620" cy="5400675"/>
          </a:xfrm>
          <a:prstGeom prst="rect">
            <a:avLst/>
          </a:prstGeom>
        </p:spPr>
        <p:txBody>
          <a:bodyPr lIns="0" tIns="0" rIns="0" bIns="0" rtlCol="0" anchor="t">
            <a:spAutoFit/>
          </a:bodyPr>
          <a:lstStyle/>
          <a:p>
            <a:pPr marL="971539" lvl="1" indent="-485769" algn="l">
              <a:lnSpc>
                <a:spcPts val="5399"/>
              </a:lnSpc>
              <a:buFont typeface="Arial"/>
              <a:buChar char="•"/>
            </a:pPr>
            <a:r>
              <a:rPr lang="en-US" sz="4499" b="1">
                <a:solidFill>
                  <a:srgbClr val="1C2120"/>
                </a:solidFill>
                <a:latin typeface="Cabin Semi-Bold"/>
                <a:ea typeface="Cabin Semi-Bold"/>
                <a:cs typeface="Cabin Semi-Bold"/>
                <a:sym typeface="Cabin Semi-Bold"/>
              </a:rPr>
              <a:t>Danh sách liên kết kép</a:t>
            </a:r>
          </a:p>
          <a:p>
            <a:pPr algn="l">
              <a:lnSpc>
                <a:spcPts val="5399"/>
              </a:lnSpc>
            </a:pPr>
            <a:endParaRPr lang="en-US" sz="4499" b="1">
              <a:solidFill>
                <a:srgbClr val="1C2120"/>
              </a:solidFill>
              <a:latin typeface="Cabin Semi-Bold"/>
              <a:ea typeface="Cabin Semi-Bold"/>
              <a:cs typeface="Cabin Semi-Bold"/>
              <a:sym typeface="Cabin Semi-Bold"/>
            </a:endParaRPr>
          </a:p>
          <a:p>
            <a:pPr marL="971539" lvl="1" indent="-485769" algn="l">
              <a:lnSpc>
                <a:spcPts val="5399"/>
              </a:lnSpc>
              <a:buFont typeface="Arial"/>
              <a:buChar char="•"/>
            </a:pPr>
            <a:r>
              <a:rPr lang="en-US" sz="4499" b="1">
                <a:solidFill>
                  <a:srgbClr val="1C2120"/>
                </a:solidFill>
                <a:latin typeface="Cabin Semi-Bold"/>
                <a:ea typeface="Cabin Semi-Bold"/>
                <a:cs typeface="Cabin Semi-Bold"/>
                <a:sym typeface="Cabin Semi-Bold"/>
              </a:rPr>
              <a:t>Năm thuật toán sắp xếp (Bubble Sort, Selection Sort, Insertion Sort, Merge Sort, Quick Sort)</a:t>
            </a:r>
          </a:p>
          <a:p>
            <a:pPr algn="l">
              <a:lnSpc>
                <a:spcPts val="5399"/>
              </a:lnSpc>
            </a:pPr>
            <a:endParaRPr lang="en-US" sz="4499" b="1">
              <a:solidFill>
                <a:srgbClr val="1C2120"/>
              </a:solidFill>
              <a:latin typeface="Cabin Semi-Bold"/>
              <a:ea typeface="Cabin Semi-Bold"/>
              <a:cs typeface="Cabin Semi-Bold"/>
              <a:sym typeface="Cabin Semi-Bold"/>
            </a:endParaRPr>
          </a:p>
          <a:p>
            <a:pPr marL="971539" lvl="1" indent="-485769" algn="l">
              <a:lnSpc>
                <a:spcPts val="5399"/>
              </a:lnSpc>
              <a:buFont typeface="Arial"/>
              <a:buChar char="•"/>
            </a:pPr>
            <a:r>
              <a:rPr lang="en-US" sz="4499" b="1">
                <a:solidFill>
                  <a:srgbClr val="1C2120"/>
                </a:solidFill>
                <a:latin typeface="Cabin Semi-Bold"/>
                <a:ea typeface="Cabin Semi-Bold"/>
                <a:cs typeface="Cabin Semi-Bold"/>
                <a:sym typeface="Cabin Semi-Bold"/>
              </a:rPr>
              <a:t>File quản lý thông tin sinh viên gồm (Họ tên, Năm sinh, Lớp, Địa chỉ, Ngành)</a:t>
            </a:r>
          </a:p>
          <a:p>
            <a:pPr algn="l">
              <a:lnSpc>
                <a:spcPts val="5399"/>
              </a:lnSpc>
            </a:pPr>
            <a:endParaRPr lang="en-US" sz="4499" b="1">
              <a:solidFill>
                <a:srgbClr val="1C2120"/>
              </a:solidFill>
              <a:latin typeface="Cabin Semi-Bold"/>
              <a:ea typeface="Cabin Semi-Bold"/>
              <a:cs typeface="Cabin Semi-Bold"/>
              <a:sym typeface="Cabin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TextBox 2"/>
          <p:cNvSpPr txBox="1"/>
          <p:nvPr/>
        </p:nvSpPr>
        <p:spPr>
          <a:xfrm>
            <a:off x="410265" y="688495"/>
            <a:ext cx="17197350" cy="942975"/>
          </a:xfrm>
          <a:prstGeom prst="rect">
            <a:avLst/>
          </a:prstGeom>
        </p:spPr>
        <p:txBody>
          <a:bodyPr lIns="0" tIns="0" rIns="0" bIns="0" rtlCol="0" anchor="t">
            <a:spAutoFit/>
          </a:bodyPr>
          <a:lstStyle/>
          <a:p>
            <a:pPr algn="ctr">
              <a:lnSpc>
                <a:spcPts val="7200"/>
              </a:lnSpc>
            </a:pPr>
            <a:r>
              <a:rPr lang="en-US" sz="6000" b="1">
                <a:solidFill>
                  <a:srgbClr val="1C2120"/>
                </a:solidFill>
                <a:latin typeface="Arial Bold"/>
                <a:ea typeface="Arial Bold"/>
                <a:cs typeface="Arial Bold"/>
                <a:sym typeface="Arial Bold"/>
              </a:rPr>
              <a:t>MỤC TIÊU VÀ TỔNG QUAN CHƯƠNG TRÌNH</a:t>
            </a:r>
          </a:p>
        </p:txBody>
      </p:sp>
      <p:sp>
        <p:nvSpPr>
          <p:cNvPr id="3" name="TextBox 3"/>
          <p:cNvSpPr txBox="1"/>
          <p:nvPr/>
        </p:nvSpPr>
        <p:spPr>
          <a:xfrm>
            <a:off x="180080" y="2281804"/>
            <a:ext cx="18107920" cy="7658100"/>
          </a:xfrm>
          <a:prstGeom prst="rect">
            <a:avLst/>
          </a:prstGeom>
        </p:spPr>
        <p:txBody>
          <a:bodyPr lIns="0" tIns="0" rIns="0" bIns="0" rtlCol="0" anchor="t">
            <a:spAutoFit/>
          </a:bodyPr>
          <a:lstStyle/>
          <a:p>
            <a:pPr marL="909588" lvl="1" indent="-454794" algn="l">
              <a:lnSpc>
                <a:spcPts val="5055"/>
              </a:lnSpc>
              <a:buFont typeface="Arial"/>
              <a:buChar char="•"/>
            </a:pPr>
            <a:r>
              <a:rPr lang="en-US" sz="4213" b="1">
                <a:solidFill>
                  <a:srgbClr val="1C2120"/>
                </a:solidFill>
                <a:latin typeface="Cabin Semi-Bold"/>
                <a:ea typeface="Cabin Semi-Bold"/>
                <a:cs typeface="Cabin Semi-Bold"/>
                <a:sym typeface="Cabin Semi-Bold"/>
              </a:rPr>
              <a:t>Mục tiêu: Quản lý danh sách sinh viên và thực hiện các thuật toán sắp xếp khác nhau.</a:t>
            </a:r>
          </a:p>
          <a:p>
            <a:pPr marL="909588" lvl="1" indent="-454794" algn="l">
              <a:lnSpc>
                <a:spcPts val="5055"/>
              </a:lnSpc>
              <a:buFont typeface="Arial"/>
              <a:buChar char="•"/>
            </a:pPr>
            <a:r>
              <a:rPr lang="en-US" sz="4213" b="1">
                <a:solidFill>
                  <a:srgbClr val="1C2120"/>
                </a:solidFill>
                <a:latin typeface="Cabin Semi-Bold"/>
                <a:ea typeface="Cabin Semi-Bold"/>
                <a:cs typeface="Cabin Semi-Bold"/>
                <a:sym typeface="Cabin Semi-Bold"/>
              </a:rPr>
              <a:t>Cấu trúc cốt lõi:</a:t>
            </a:r>
          </a:p>
          <a:p>
            <a:pPr algn="l">
              <a:lnSpc>
                <a:spcPts val="5055"/>
              </a:lnSpc>
            </a:pPr>
            <a:r>
              <a:rPr lang="en-US" sz="4213">
                <a:solidFill>
                  <a:srgbClr val="1C2120"/>
                </a:solidFill>
                <a:latin typeface="Cabin"/>
                <a:ea typeface="Cabin"/>
                <a:cs typeface="Cabin"/>
                <a:sym typeface="Cabin"/>
              </a:rPr>
              <a:t>           - </a:t>
            </a:r>
            <a:r>
              <a:rPr lang="en-US" sz="4213" b="1">
                <a:solidFill>
                  <a:srgbClr val="1C2120"/>
                </a:solidFill>
                <a:latin typeface="Cabin Semi-Bold"/>
                <a:ea typeface="Cabin Semi-Bold"/>
                <a:cs typeface="Cabin Semi-Bold"/>
                <a:sym typeface="Cabin Semi-Bold"/>
              </a:rPr>
              <a:t>Sử dụng Danh sách liên kết đôi (Doubly Linked List) thay vì mảng để                                        quản lý bộ nhớ linh hoạt.</a:t>
            </a:r>
          </a:p>
          <a:p>
            <a:pPr algn="l">
              <a:lnSpc>
                <a:spcPts val="5055"/>
              </a:lnSpc>
            </a:pPr>
            <a:r>
              <a:rPr lang="en-US" sz="4213">
                <a:solidFill>
                  <a:srgbClr val="1C2120"/>
                </a:solidFill>
                <a:latin typeface="Cabin"/>
                <a:ea typeface="Cabin"/>
                <a:cs typeface="Cabin"/>
                <a:sym typeface="Cabin"/>
              </a:rPr>
              <a:t>           - </a:t>
            </a:r>
            <a:r>
              <a:rPr lang="en-US" sz="4213" b="1">
                <a:solidFill>
                  <a:srgbClr val="1C2120"/>
                </a:solidFill>
                <a:latin typeface="Cabin Semi-Bold"/>
                <a:ea typeface="Cabin Semi-Bold"/>
                <a:cs typeface="Cabin Semi-Bold"/>
                <a:sym typeface="Cabin Semi-Bold"/>
              </a:rPr>
              <a:t>Ngôn ngữ: C</a:t>
            </a:r>
          </a:p>
          <a:p>
            <a:pPr marL="909588" lvl="1" indent="-454794" algn="l">
              <a:lnSpc>
                <a:spcPts val="5055"/>
              </a:lnSpc>
              <a:buFont typeface="Arial"/>
              <a:buChar char="•"/>
            </a:pPr>
            <a:r>
              <a:rPr lang="en-US" sz="4213" b="1">
                <a:solidFill>
                  <a:srgbClr val="1C2120"/>
                </a:solidFill>
                <a:latin typeface="Cabin Semi-Bold"/>
                <a:ea typeface="Cabin Semi-Bold"/>
                <a:cs typeface="Cabin Semi-Bold"/>
                <a:sym typeface="Cabin Semi-Bold"/>
              </a:rPr>
              <a:t>Chức năng chính:</a:t>
            </a:r>
          </a:p>
          <a:p>
            <a:pPr algn="l">
              <a:lnSpc>
                <a:spcPts val="5055"/>
              </a:lnSpc>
            </a:pPr>
            <a:r>
              <a:rPr lang="en-US" sz="4213">
                <a:solidFill>
                  <a:srgbClr val="1C2120"/>
                </a:solidFill>
                <a:latin typeface="Cabin"/>
                <a:ea typeface="Cabin"/>
                <a:cs typeface="Cabin"/>
                <a:sym typeface="Cabin"/>
              </a:rPr>
              <a:t>           - Đ</a:t>
            </a:r>
            <a:r>
              <a:rPr lang="en-US" sz="4213" b="1">
                <a:solidFill>
                  <a:srgbClr val="1C2120"/>
                </a:solidFill>
                <a:latin typeface="Cabin Semi-Bold"/>
                <a:ea typeface="Cabin Semi-Bold"/>
                <a:cs typeface="Cabin Semi-Bold"/>
                <a:sym typeface="Cabin Semi-Bold"/>
              </a:rPr>
              <a:t>ọc dữ liệu từ file văn bản (sinhvien.txt).</a:t>
            </a:r>
          </a:p>
          <a:p>
            <a:pPr algn="l">
              <a:lnSpc>
                <a:spcPts val="5055"/>
              </a:lnSpc>
            </a:pPr>
            <a:r>
              <a:rPr lang="en-US" sz="4213">
                <a:solidFill>
                  <a:srgbClr val="1C2120"/>
                </a:solidFill>
                <a:latin typeface="Cabin"/>
                <a:ea typeface="Cabin"/>
                <a:cs typeface="Cabin"/>
                <a:sym typeface="Cabin"/>
              </a:rPr>
              <a:t>           - </a:t>
            </a:r>
            <a:r>
              <a:rPr lang="en-US" sz="4213" b="1">
                <a:solidFill>
                  <a:srgbClr val="1C2120"/>
                </a:solidFill>
                <a:latin typeface="Cabin Semi-Bold"/>
                <a:ea typeface="Cabin Semi-Bold"/>
                <a:cs typeface="Cabin Semi-Bold"/>
                <a:sym typeface="Cabin Semi-Bold"/>
              </a:rPr>
              <a:t>Lưu trữ thông tin chi tiết (Họ tên, Năm sinh, Lớp, Địa chỉ, Ngành).</a:t>
            </a:r>
          </a:p>
          <a:p>
            <a:pPr algn="l">
              <a:lnSpc>
                <a:spcPts val="5055"/>
              </a:lnSpc>
            </a:pPr>
            <a:r>
              <a:rPr lang="en-US" sz="4213">
                <a:solidFill>
                  <a:srgbClr val="1C2120"/>
                </a:solidFill>
                <a:latin typeface="Cabin"/>
                <a:ea typeface="Cabin"/>
                <a:cs typeface="Cabin"/>
                <a:sym typeface="Cabin"/>
              </a:rPr>
              <a:t>           - </a:t>
            </a:r>
            <a:r>
              <a:rPr lang="en-US" sz="4213" b="1">
                <a:solidFill>
                  <a:srgbClr val="1C2120"/>
                </a:solidFill>
                <a:latin typeface="Cabin Semi-Bold"/>
                <a:ea typeface="Cabin Semi-Bold"/>
                <a:cs typeface="Cabin Semi-Bold"/>
                <a:sym typeface="Cabin Semi-Bold"/>
              </a:rPr>
              <a:t>Cung cấp 5 thuật toán sắp xếp phổ biến.</a:t>
            </a:r>
          </a:p>
          <a:p>
            <a:pPr algn="l">
              <a:lnSpc>
                <a:spcPts val="5055"/>
              </a:lnSpc>
            </a:pPr>
            <a:r>
              <a:rPr lang="en-US" sz="4213">
                <a:solidFill>
                  <a:srgbClr val="1C2120"/>
                </a:solidFill>
                <a:latin typeface="Cabin"/>
                <a:ea typeface="Cabin"/>
                <a:cs typeface="Cabin"/>
                <a:sym typeface="Cabin"/>
              </a:rPr>
              <a:t>           - </a:t>
            </a:r>
            <a:r>
              <a:rPr lang="en-US" sz="4213" b="1">
                <a:solidFill>
                  <a:srgbClr val="1C2120"/>
                </a:solidFill>
                <a:latin typeface="Cabin Semi-Bold"/>
                <a:ea typeface="Cabin Semi-Bold"/>
                <a:cs typeface="Cabin Semi-Bold"/>
                <a:sym typeface="Cabin Semi-Bold"/>
              </a:rPr>
              <a:t>Cho phép chọn tiêu chí sắp xếp (Tên, Năm sinh, Lớp).</a:t>
            </a:r>
          </a:p>
          <a:p>
            <a:pPr algn="l">
              <a:lnSpc>
                <a:spcPts val="5055"/>
              </a:lnSpc>
            </a:pPr>
            <a:endParaRPr lang="en-US" sz="4213" b="1">
              <a:solidFill>
                <a:srgbClr val="1C2120"/>
              </a:solidFill>
              <a:latin typeface="Cabin Semi-Bold"/>
              <a:ea typeface="Cabin Semi-Bold"/>
              <a:cs typeface="Cabin Semi-Bold"/>
              <a:sym typeface="Cabin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AutoShape 2"/>
          <p:cNvSpPr/>
          <p:nvPr/>
        </p:nvSpPr>
        <p:spPr>
          <a:xfrm>
            <a:off x="-1488836" y="2120204"/>
            <a:ext cx="9418678" cy="0"/>
          </a:xfrm>
          <a:prstGeom prst="line">
            <a:avLst/>
          </a:prstGeom>
          <a:ln w="9525" cap="flat">
            <a:solidFill>
              <a:srgbClr val="000000"/>
            </a:solidFill>
            <a:prstDash val="solid"/>
            <a:headEnd type="none" w="sm" len="sm"/>
            <a:tailEnd type="none" w="sm" len="sm"/>
          </a:ln>
        </p:spPr>
      </p:sp>
      <p:sp>
        <p:nvSpPr>
          <p:cNvPr id="3" name="AutoShape 3"/>
          <p:cNvSpPr/>
          <p:nvPr/>
        </p:nvSpPr>
        <p:spPr>
          <a:xfrm>
            <a:off x="7925080" y="-5"/>
            <a:ext cx="4762" cy="10287003"/>
          </a:xfrm>
          <a:prstGeom prst="line">
            <a:avLst/>
          </a:prstGeom>
          <a:ln w="9525" cap="flat">
            <a:solidFill>
              <a:srgbClr val="000000"/>
            </a:solidFill>
            <a:prstDash val="solid"/>
            <a:headEnd type="none" w="sm" len="sm"/>
            <a:tailEnd type="none" w="sm" len="sm"/>
          </a:ln>
        </p:spPr>
      </p:sp>
      <p:sp>
        <p:nvSpPr>
          <p:cNvPr id="4" name="Freeform 4"/>
          <p:cNvSpPr/>
          <p:nvPr/>
        </p:nvSpPr>
        <p:spPr>
          <a:xfrm>
            <a:off x="8873880" y="342900"/>
            <a:ext cx="8385420" cy="9684610"/>
          </a:xfrm>
          <a:custGeom>
            <a:avLst/>
            <a:gdLst/>
            <a:ahLst/>
            <a:cxnLst/>
            <a:rect l="l" t="t" r="r" b="b"/>
            <a:pathLst>
              <a:path w="8385420" h="9684610">
                <a:moveTo>
                  <a:pt x="0" y="0"/>
                </a:moveTo>
                <a:lnTo>
                  <a:pt x="8385420" y="0"/>
                </a:lnTo>
                <a:lnTo>
                  <a:pt x="8385420" y="9684610"/>
                </a:lnTo>
                <a:lnTo>
                  <a:pt x="0" y="9684610"/>
                </a:lnTo>
                <a:lnTo>
                  <a:pt x="0" y="0"/>
                </a:lnTo>
                <a:close/>
              </a:path>
            </a:pathLst>
          </a:custGeom>
          <a:blipFill>
            <a:blip r:embed="rId2"/>
            <a:stretch>
              <a:fillRect l="-7377" t="-672" b="-10839"/>
            </a:stretch>
          </a:blipFill>
        </p:spPr>
      </p:sp>
      <p:sp>
        <p:nvSpPr>
          <p:cNvPr id="5" name="TextBox 5"/>
          <p:cNvSpPr txBox="1"/>
          <p:nvPr/>
        </p:nvSpPr>
        <p:spPr>
          <a:xfrm>
            <a:off x="257135" y="680551"/>
            <a:ext cx="7394616" cy="1000125"/>
          </a:xfrm>
          <a:prstGeom prst="rect">
            <a:avLst/>
          </a:prstGeom>
        </p:spPr>
        <p:txBody>
          <a:bodyPr lIns="0" tIns="0" rIns="0" bIns="0" rtlCol="0" anchor="t">
            <a:spAutoFit/>
          </a:bodyPr>
          <a:lstStyle/>
          <a:p>
            <a:pPr algn="ctr">
              <a:lnSpc>
                <a:spcPts val="7920"/>
              </a:lnSpc>
            </a:pPr>
            <a:r>
              <a:rPr lang="en-US" sz="6600" b="1">
                <a:solidFill>
                  <a:srgbClr val="1C2120"/>
                </a:solidFill>
                <a:latin typeface="Cabin Semi-Bold"/>
                <a:ea typeface="Cabin Semi-Bold"/>
                <a:cs typeface="Cabin Semi-Bold"/>
                <a:sym typeface="Cabin Semi-Bold"/>
              </a:rPr>
              <a:t>CÁCH HOẠT ĐỘNG</a:t>
            </a:r>
          </a:p>
        </p:txBody>
      </p:sp>
      <p:sp>
        <p:nvSpPr>
          <p:cNvPr id="6" name="TextBox 6"/>
          <p:cNvSpPr txBox="1"/>
          <p:nvPr/>
        </p:nvSpPr>
        <p:spPr>
          <a:xfrm>
            <a:off x="422877" y="2261816"/>
            <a:ext cx="7228874" cy="6384013"/>
          </a:xfrm>
          <a:prstGeom prst="rect">
            <a:avLst/>
          </a:prstGeom>
        </p:spPr>
        <p:txBody>
          <a:bodyPr lIns="0" tIns="0" rIns="0" bIns="0" rtlCol="0" anchor="t">
            <a:spAutoFit/>
          </a:bodyPr>
          <a:lstStyle/>
          <a:p>
            <a:pPr marL="771152" lvl="1" indent="-385576" algn="l">
              <a:lnSpc>
                <a:spcPts val="4643"/>
              </a:lnSpc>
              <a:buFont typeface="Arial"/>
              <a:buChar char="•"/>
            </a:pPr>
            <a:r>
              <a:rPr lang="en-US" sz="3571">
                <a:solidFill>
                  <a:srgbClr val="1C2120"/>
                </a:solidFill>
                <a:latin typeface="Muli"/>
                <a:ea typeface="Muli"/>
                <a:cs typeface="Muli"/>
                <a:sym typeface="Muli"/>
              </a:rPr>
              <a:t>Khởi tạo danh sách rỗng và đọc dữ liệu từ file sinhvien.txt</a:t>
            </a:r>
          </a:p>
          <a:p>
            <a:pPr marL="771152" lvl="1" indent="-385576" algn="l">
              <a:lnSpc>
                <a:spcPts val="4643"/>
              </a:lnSpc>
              <a:buFont typeface="Arial"/>
              <a:buChar char="•"/>
            </a:pPr>
            <a:r>
              <a:rPr lang="en-US" sz="3571">
                <a:solidFill>
                  <a:srgbClr val="1C2120"/>
                </a:solidFill>
                <a:latin typeface="Muli"/>
                <a:ea typeface="Muli"/>
                <a:cs typeface="Muli"/>
                <a:sym typeface="Muli"/>
              </a:rPr>
              <a:t>Hiển thị danh sách gốc ra màn hình</a:t>
            </a:r>
          </a:p>
          <a:p>
            <a:pPr marL="771152" lvl="1" indent="-385576" algn="l">
              <a:lnSpc>
                <a:spcPts val="4643"/>
              </a:lnSpc>
              <a:buFont typeface="Arial"/>
              <a:buChar char="•"/>
            </a:pPr>
            <a:r>
              <a:rPr lang="en-US" sz="3571">
                <a:solidFill>
                  <a:srgbClr val="1C2120"/>
                </a:solidFill>
                <a:latin typeface="Muli"/>
                <a:ea typeface="Muli"/>
                <a:cs typeface="Muli"/>
                <a:sym typeface="Muli"/>
              </a:rPr>
              <a:t>Hiển thị menu cho người dùng chọn thuật toán sắp xếp</a:t>
            </a:r>
          </a:p>
          <a:p>
            <a:pPr marL="771152" lvl="1" indent="-385576" algn="l">
              <a:lnSpc>
                <a:spcPts val="4643"/>
              </a:lnSpc>
              <a:buFont typeface="Arial"/>
              <a:buChar char="•"/>
            </a:pPr>
            <a:r>
              <a:rPr lang="en-US" sz="3571">
                <a:solidFill>
                  <a:srgbClr val="1C2120"/>
                </a:solidFill>
                <a:latin typeface="Muli"/>
                <a:ea typeface="Muli"/>
                <a:cs typeface="Muli"/>
                <a:sym typeface="Muli"/>
              </a:rPr>
              <a:t>Hiển thị menu cho người dùng chọn tiêu chí sắp xếp</a:t>
            </a:r>
          </a:p>
          <a:p>
            <a:pPr marL="771152" lvl="1" indent="-385576" algn="l">
              <a:lnSpc>
                <a:spcPts val="4643"/>
              </a:lnSpc>
              <a:buFont typeface="Arial"/>
              <a:buChar char="•"/>
            </a:pPr>
            <a:r>
              <a:rPr lang="en-US" sz="3571">
                <a:solidFill>
                  <a:srgbClr val="1C2120"/>
                </a:solidFill>
                <a:latin typeface="Muli"/>
                <a:ea typeface="Muli"/>
                <a:cs typeface="Muli"/>
                <a:sym typeface="Muli"/>
              </a:rPr>
              <a:t>In ra danh sách kết quả sau khi đã sắp xếp theo tiêu chí đã chọn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AutoShape 2"/>
          <p:cNvSpPr/>
          <p:nvPr/>
        </p:nvSpPr>
        <p:spPr>
          <a:xfrm flipV="1">
            <a:off x="0" y="1715023"/>
            <a:ext cx="18898032" cy="0"/>
          </a:xfrm>
          <a:prstGeom prst="line">
            <a:avLst/>
          </a:prstGeom>
          <a:ln w="9525" cap="flat">
            <a:solidFill>
              <a:srgbClr val="000000"/>
            </a:solidFill>
            <a:prstDash val="solid"/>
            <a:headEnd type="none" w="sm" len="sm"/>
            <a:tailEnd type="none" w="sm" len="sm"/>
          </a:ln>
        </p:spPr>
      </p:sp>
      <p:sp>
        <p:nvSpPr>
          <p:cNvPr id="3" name="TextBox 3"/>
          <p:cNvSpPr txBox="1"/>
          <p:nvPr/>
        </p:nvSpPr>
        <p:spPr>
          <a:xfrm>
            <a:off x="1028700" y="528638"/>
            <a:ext cx="15858390" cy="1000125"/>
          </a:xfrm>
          <a:prstGeom prst="rect">
            <a:avLst/>
          </a:prstGeom>
        </p:spPr>
        <p:txBody>
          <a:bodyPr lIns="0" tIns="0" rIns="0" bIns="0" rtlCol="0" anchor="t">
            <a:spAutoFit/>
          </a:bodyPr>
          <a:lstStyle/>
          <a:p>
            <a:pPr algn="ctr">
              <a:lnSpc>
                <a:spcPts val="7920"/>
              </a:lnSpc>
            </a:pPr>
            <a:r>
              <a:rPr lang="en-US" sz="6600" b="1">
                <a:solidFill>
                  <a:srgbClr val="1C2120"/>
                </a:solidFill>
                <a:latin typeface="Cabin Semi-Bold"/>
                <a:ea typeface="Cabin Semi-Bold"/>
                <a:cs typeface="Cabin Semi-Bold"/>
                <a:sym typeface="Cabin Semi-Bold"/>
              </a:rPr>
              <a:t>TỔ CHỨC CẤU TRÚC DỮ LIỆU</a:t>
            </a:r>
          </a:p>
        </p:txBody>
      </p:sp>
      <p:sp>
        <p:nvSpPr>
          <p:cNvPr id="4" name="TextBox 4"/>
          <p:cNvSpPr txBox="1"/>
          <p:nvPr/>
        </p:nvSpPr>
        <p:spPr>
          <a:xfrm>
            <a:off x="389367" y="2040175"/>
            <a:ext cx="17898633" cy="7987388"/>
          </a:xfrm>
          <a:prstGeom prst="rect">
            <a:avLst/>
          </a:prstGeom>
        </p:spPr>
        <p:txBody>
          <a:bodyPr lIns="0" tIns="0" rIns="0" bIns="0" rtlCol="0" anchor="t">
            <a:spAutoFit/>
          </a:bodyPr>
          <a:lstStyle/>
          <a:p>
            <a:pPr marL="879099" lvl="1" indent="-439549" algn="l">
              <a:lnSpc>
                <a:spcPts val="5293"/>
              </a:lnSpc>
              <a:buFont typeface="Arial"/>
              <a:buChar char="•"/>
            </a:pPr>
            <a:r>
              <a:rPr lang="en-US" sz="4071">
                <a:solidFill>
                  <a:srgbClr val="1C2120"/>
                </a:solidFill>
                <a:latin typeface="Muli"/>
                <a:ea typeface="Muli"/>
                <a:cs typeface="Muli"/>
                <a:sym typeface="Muli"/>
              </a:rPr>
              <a:t>Struct SinhVien: Chứa dữ liệu thực tế</a:t>
            </a:r>
          </a:p>
          <a:p>
            <a:pPr algn="l">
              <a:lnSpc>
                <a:spcPts val="5293"/>
              </a:lnSpc>
            </a:pPr>
            <a:r>
              <a:rPr lang="en-US" sz="4071">
                <a:solidFill>
                  <a:srgbClr val="1C2120"/>
                </a:solidFill>
                <a:latin typeface="Muli"/>
                <a:ea typeface="Muli"/>
                <a:cs typeface="Muli"/>
                <a:sym typeface="Muli"/>
              </a:rPr>
              <a:t>            Gồm các trường: hoten, namsinh, lop, diachi, nganh</a:t>
            </a:r>
          </a:p>
          <a:p>
            <a:pPr algn="l">
              <a:lnSpc>
                <a:spcPts val="5293"/>
              </a:lnSpc>
            </a:pPr>
            <a:endParaRPr lang="en-US" sz="4071">
              <a:solidFill>
                <a:srgbClr val="1C2120"/>
              </a:solidFill>
              <a:latin typeface="Muli"/>
              <a:ea typeface="Muli"/>
              <a:cs typeface="Muli"/>
              <a:sym typeface="Muli"/>
            </a:endParaRPr>
          </a:p>
          <a:p>
            <a:pPr marL="879099" lvl="1" indent="-439549" algn="l">
              <a:lnSpc>
                <a:spcPts val="5293"/>
              </a:lnSpc>
              <a:buFont typeface="Arial"/>
              <a:buChar char="•"/>
            </a:pPr>
            <a:r>
              <a:rPr lang="en-US" sz="4071">
                <a:solidFill>
                  <a:srgbClr val="1C2120"/>
                </a:solidFill>
                <a:latin typeface="Muli"/>
                <a:ea typeface="Muli"/>
                <a:cs typeface="Muli"/>
                <a:sym typeface="Muli"/>
              </a:rPr>
              <a:t>Struct Node: Đơn vị cơ bản của danh sách</a:t>
            </a:r>
          </a:p>
          <a:p>
            <a:pPr algn="l">
              <a:lnSpc>
                <a:spcPts val="5293"/>
              </a:lnSpc>
            </a:pPr>
            <a:r>
              <a:rPr lang="en-US" sz="4071">
                <a:solidFill>
                  <a:srgbClr val="1C2120"/>
                </a:solidFill>
                <a:latin typeface="Muli"/>
                <a:ea typeface="Muli"/>
                <a:cs typeface="Muli"/>
                <a:sym typeface="Muli"/>
              </a:rPr>
              <a:t>            - data: Chứa struct SinhVien</a:t>
            </a:r>
          </a:p>
          <a:p>
            <a:pPr algn="l">
              <a:lnSpc>
                <a:spcPts val="5293"/>
              </a:lnSpc>
            </a:pPr>
            <a:r>
              <a:rPr lang="en-US" sz="4071">
                <a:solidFill>
                  <a:srgbClr val="1C2120"/>
                </a:solidFill>
                <a:latin typeface="Muli"/>
                <a:ea typeface="Muli"/>
                <a:cs typeface="Muli"/>
                <a:sym typeface="Muli"/>
              </a:rPr>
              <a:t>            - *prev: Con trỏ trỏ về Node phía trước</a:t>
            </a:r>
          </a:p>
          <a:p>
            <a:pPr algn="l">
              <a:lnSpc>
                <a:spcPts val="5293"/>
              </a:lnSpc>
            </a:pPr>
            <a:r>
              <a:rPr lang="en-US" sz="4071">
                <a:solidFill>
                  <a:srgbClr val="1C2120"/>
                </a:solidFill>
                <a:latin typeface="Muli"/>
                <a:ea typeface="Muli"/>
                <a:cs typeface="Muli"/>
                <a:sym typeface="Muli"/>
              </a:rPr>
              <a:t>            - *next: Con trỏ trỏ về Node phía sau</a:t>
            </a:r>
          </a:p>
          <a:p>
            <a:pPr algn="l">
              <a:lnSpc>
                <a:spcPts val="5293"/>
              </a:lnSpc>
            </a:pPr>
            <a:endParaRPr lang="en-US" sz="4071">
              <a:solidFill>
                <a:srgbClr val="1C2120"/>
              </a:solidFill>
              <a:latin typeface="Muli"/>
              <a:ea typeface="Muli"/>
              <a:cs typeface="Muli"/>
              <a:sym typeface="Muli"/>
            </a:endParaRPr>
          </a:p>
          <a:p>
            <a:pPr marL="879099" lvl="1" indent="-439549" algn="l">
              <a:lnSpc>
                <a:spcPts val="5293"/>
              </a:lnSpc>
              <a:buFont typeface="Arial"/>
              <a:buChar char="•"/>
            </a:pPr>
            <a:r>
              <a:rPr lang="en-US" sz="4071">
                <a:solidFill>
                  <a:srgbClr val="1C2120"/>
                </a:solidFill>
                <a:latin typeface="Muli"/>
                <a:ea typeface="Muli"/>
                <a:cs typeface="Muli"/>
                <a:sym typeface="Muli"/>
              </a:rPr>
              <a:t>Struct DoublyList: Trình quản lý danh sách</a:t>
            </a:r>
          </a:p>
          <a:p>
            <a:pPr algn="l">
              <a:lnSpc>
                <a:spcPts val="5293"/>
              </a:lnSpc>
            </a:pPr>
            <a:r>
              <a:rPr lang="en-US" sz="4071">
                <a:solidFill>
                  <a:srgbClr val="1C2120"/>
                </a:solidFill>
                <a:latin typeface="Muli"/>
                <a:ea typeface="Muli"/>
                <a:cs typeface="Muli"/>
                <a:sym typeface="Muli"/>
              </a:rPr>
              <a:t>            - *head: Quản lý phần tử đầu tiên</a:t>
            </a:r>
          </a:p>
          <a:p>
            <a:pPr algn="l">
              <a:lnSpc>
                <a:spcPts val="5293"/>
              </a:lnSpc>
            </a:pPr>
            <a:r>
              <a:rPr lang="en-US" sz="4071">
                <a:solidFill>
                  <a:srgbClr val="1C2120"/>
                </a:solidFill>
                <a:latin typeface="Muli"/>
                <a:ea typeface="Muli"/>
                <a:cs typeface="Muli"/>
                <a:sym typeface="Muli"/>
              </a:rPr>
              <a:t>            - *tail: Quản lý phần tử cuối cùng</a:t>
            </a:r>
          </a:p>
          <a:p>
            <a:pPr algn="l">
              <a:lnSpc>
                <a:spcPts val="5293"/>
              </a:lnSpc>
            </a:pPr>
            <a:endParaRPr lang="en-US" sz="4071">
              <a:solidFill>
                <a:srgbClr val="1C2120"/>
              </a:solidFill>
              <a:latin typeface="Muli"/>
              <a:ea typeface="Muli"/>
              <a:cs typeface="Muli"/>
              <a:sym typeface="Mul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AutoShape 2"/>
          <p:cNvSpPr/>
          <p:nvPr/>
        </p:nvSpPr>
        <p:spPr>
          <a:xfrm flipV="1">
            <a:off x="0" y="1715023"/>
            <a:ext cx="18898032" cy="0"/>
          </a:xfrm>
          <a:prstGeom prst="line">
            <a:avLst/>
          </a:prstGeom>
          <a:ln w="9525" cap="flat">
            <a:solidFill>
              <a:srgbClr val="000000"/>
            </a:solidFill>
            <a:prstDash val="solid"/>
            <a:headEnd type="none" w="sm" len="sm"/>
            <a:tailEnd type="none" w="sm" len="sm"/>
          </a:ln>
        </p:spPr>
      </p:sp>
      <p:sp>
        <p:nvSpPr>
          <p:cNvPr id="3" name="TextBox 3"/>
          <p:cNvSpPr txBox="1"/>
          <p:nvPr/>
        </p:nvSpPr>
        <p:spPr>
          <a:xfrm>
            <a:off x="1028700" y="528638"/>
            <a:ext cx="15858390" cy="1000125"/>
          </a:xfrm>
          <a:prstGeom prst="rect">
            <a:avLst/>
          </a:prstGeom>
        </p:spPr>
        <p:txBody>
          <a:bodyPr lIns="0" tIns="0" rIns="0" bIns="0" rtlCol="0" anchor="t">
            <a:spAutoFit/>
          </a:bodyPr>
          <a:lstStyle/>
          <a:p>
            <a:pPr algn="ctr">
              <a:lnSpc>
                <a:spcPts val="7920"/>
              </a:lnSpc>
            </a:pPr>
            <a:r>
              <a:rPr lang="en-US" sz="6600" b="1">
                <a:solidFill>
                  <a:srgbClr val="1C2120"/>
                </a:solidFill>
                <a:latin typeface="Cabin Semi-Bold"/>
                <a:ea typeface="Cabin Semi-Bold"/>
                <a:cs typeface="Cabin Semi-Bold"/>
                <a:sym typeface="Cabin Semi-Bold"/>
              </a:rPr>
              <a:t>XỬ LÝ DỮ LIỆU ĐẦU VÀO</a:t>
            </a:r>
          </a:p>
        </p:txBody>
      </p:sp>
      <p:sp>
        <p:nvSpPr>
          <p:cNvPr id="4" name="TextBox 4"/>
          <p:cNvSpPr txBox="1"/>
          <p:nvPr/>
        </p:nvSpPr>
        <p:spPr>
          <a:xfrm>
            <a:off x="389367" y="2040175"/>
            <a:ext cx="17898633" cy="7987388"/>
          </a:xfrm>
          <a:prstGeom prst="rect">
            <a:avLst/>
          </a:prstGeom>
        </p:spPr>
        <p:txBody>
          <a:bodyPr lIns="0" tIns="0" rIns="0" bIns="0" rtlCol="0" anchor="t">
            <a:spAutoFit/>
          </a:bodyPr>
          <a:lstStyle/>
          <a:p>
            <a:pPr algn="l">
              <a:lnSpc>
                <a:spcPts val="5293"/>
              </a:lnSpc>
            </a:pPr>
            <a:r>
              <a:rPr lang="en-US" sz="4071" b="1">
                <a:solidFill>
                  <a:srgbClr val="1C2120"/>
                </a:solidFill>
                <a:latin typeface="Muli Bold"/>
                <a:ea typeface="Muli Bold"/>
                <a:cs typeface="Muli Bold"/>
                <a:sym typeface="Muli Bold"/>
              </a:rPr>
              <a:t>Nạp Dữ liệu từ File sinhvien.txt</a:t>
            </a:r>
          </a:p>
          <a:p>
            <a:pPr marL="879099" lvl="1" indent="-439549" algn="l">
              <a:lnSpc>
                <a:spcPts val="5293"/>
              </a:lnSpc>
              <a:buFont typeface="Arial"/>
              <a:buChar char="•"/>
            </a:pPr>
            <a:r>
              <a:rPr lang="en-US" sz="4071" b="1">
                <a:solidFill>
                  <a:srgbClr val="1C2120"/>
                </a:solidFill>
                <a:latin typeface="Muli Bold"/>
                <a:ea typeface="Muli Bold"/>
                <a:cs typeface="Muli Bold"/>
                <a:sym typeface="Muli Bold"/>
              </a:rPr>
              <a:t>Hàm xử lý:</a:t>
            </a:r>
            <a:r>
              <a:rPr lang="en-US" sz="4071">
                <a:solidFill>
                  <a:srgbClr val="1C2120"/>
                </a:solidFill>
                <a:latin typeface="Muli"/>
                <a:ea typeface="Muli"/>
                <a:cs typeface="Muli"/>
                <a:sym typeface="Muli"/>
              </a:rPr>
              <a:t> DuLieu(DoublyList *l, const char *filename).</a:t>
            </a:r>
          </a:p>
          <a:p>
            <a:pPr algn="l">
              <a:lnSpc>
                <a:spcPts val="5293"/>
              </a:lnSpc>
            </a:pPr>
            <a:endParaRPr lang="en-US" sz="4071">
              <a:solidFill>
                <a:srgbClr val="1C2120"/>
              </a:solidFill>
              <a:latin typeface="Muli"/>
              <a:ea typeface="Muli"/>
              <a:cs typeface="Muli"/>
              <a:sym typeface="Muli"/>
            </a:endParaRPr>
          </a:p>
          <a:p>
            <a:pPr marL="879099" lvl="1" indent="-439549" algn="l">
              <a:lnSpc>
                <a:spcPts val="5293"/>
              </a:lnSpc>
              <a:buFont typeface="Arial"/>
              <a:buChar char="•"/>
            </a:pPr>
            <a:r>
              <a:rPr lang="en-US" sz="4071" b="1">
                <a:solidFill>
                  <a:srgbClr val="1C2120"/>
                </a:solidFill>
                <a:latin typeface="Muli Bold"/>
                <a:ea typeface="Muli Bold"/>
                <a:cs typeface="Muli Bold"/>
                <a:sym typeface="Muli Bold"/>
              </a:rPr>
              <a:t>Quy trình hoạt động:</a:t>
            </a:r>
          </a:p>
          <a:p>
            <a:pPr marL="879099" lvl="1" indent="-439549" algn="l">
              <a:lnSpc>
                <a:spcPts val="5293"/>
              </a:lnSpc>
              <a:buAutoNum type="arabicPeriod"/>
            </a:pPr>
            <a:r>
              <a:rPr lang="en-US" sz="4071">
                <a:solidFill>
                  <a:srgbClr val="1C2120"/>
                </a:solidFill>
                <a:latin typeface="Muli"/>
                <a:ea typeface="Muli"/>
                <a:cs typeface="Muli"/>
                <a:sym typeface="Muli"/>
              </a:rPr>
              <a:t> Mở file: Sử dụng fopen chế độ đọc ("r").</a:t>
            </a:r>
          </a:p>
          <a:p>
            <a:pPr marL="879099" lvl="1" indent="-439549" algn="l">
              <a:lnSpc>
                <a:spcPts val="5293"/>
              </a:lnSpc>
              <a:buAutoNum type="arabicPeriod"/>
            </a:pPr>
            <a:r>
              <a:rPr lang="en-US" sz="4071">
                <a:solidFill>
                  <a:srgbClr val="1C2120"/>
                </a:solidFill>
                <a:latin typeface="Muli"/>
                <a:ea typeface="Muli"/>
                <a:cs typeface="Muli"/>
                <a:sym typeface="Muli"/>
              </a:rPr>
              <a:t> Đọc từng dòng: Dùng fgets để lấy dữ liệu thô.</a:t>
            </a:r>
          </a:p>
          <a:p>
            <a:pPr marL="879099" lvl="1" indent="-439549" algn="l">
              <a:lnSpc>
                <a:spcPts val="5293"/>
              </a:lnSpc>
              <a:buAutoNum type="arabicPeriod"/>
            </a:pPr>
            <a:r>
              <a:rPr lang="en-US" sz="4071">
                <a:solidFill>
                  <a:srgbClr val="1C2120"/>
                </a:solidFill>
                <a:latin typeface="Muli"/>
                <a:ea typeface="Muli"/>
                <a:cs typeface="Muli"/>
                <a:sym typeface="Muli"/>
              </a:rPr>
              <a:t> Làm sạch: Hàm trim_newline loại bỏ ký tự xuống dòng dư thừa.</a:t>
            </a:r>
          </a:p>
          <a:p>
            <a:pPr marL="879099" lvl="1" indent="-439549" algn="l">
              <a:lnSpc>
                <a:spcPts val="5293"/>
              </a:lnSpc>
              <a:buAutoNum type="arabicPeriod"/>
            </a:pPr>
            <a:r>
              <a:rPr lang="en-US" sz="4071">
                <a:solidFill>
                  <a:srgbClr val="1C2120"/>
                </a:solidFill>
                <a:latin typeface="Muli"/>
                <a:ea typeface="Muli"/>
                <a:cs typeface="Muli"/>
                <a:sym typeface="Muli"/>
              </a:rPr>
              <a:t> Tách chuỗi: Sử dụng strtok(line, "|") để cắt chuỗi dựa trên ký tự phân cách “|”.</a:t>
            </a:r>
          </a:p>
          <a:p>
            <a:pPr marL="879099" lvl="1" indent="-439549" algn="l">
              <a:lnSpc>
                <a:spcPts val="5293"/>
              </a:lnSpc>
              <a:buAutoNum type="arabicPeriod"/>
            </a:pPr>
            <a:r>
              <a:rPr lang="en-US" sz="4071">
                <a:solidFill>
                  <a:srgbClr val="1C2120"/>
                </a:solidFill>
                <a:latin typeface="Muli"/>
                <a:ea typeface="Muli"/>
                <a:cs typeface="Muli"/>
                <a:sym typeface="Muli"/>
              </a:rPr>
              <a:t> Tạo Node: Dữ liệu sau khi tách được đóng gói vào struct SinhVien và thêm vào cuối danh sách bằng hàm addLast.</a:t>
            </a:r>
          </a:p>
          <a:p>
            <a:pPr algn="l">
              <a:lnSpc>
                <a:spcPts val="5293"/>
              </a:lnSpc>
            </a:pPr>
            <a:endParaRPr lang="en-US" sz="4071">
              <a:solidFill>
                <a:srgbClr val="1C2120"/>
              </a:solidFill>
              <a:latin typeface="Muli"/>
              <a:ea typeface="Muli"/>
              <a:cs typeface="Muli"/>
              <a:sym typeface="Mul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AutoShape 2"/>
          <p:cNvSpPr/>
          <p:nvPr/>
        </p:nvSpPr>
        <p:spPr>
          <a:xfrm flipV="1">
            <a:off x="0" y="1534942"/>
            <a:ext cx="18898032" cy="0"/>
          </a:xfrm>
          <a:prstGeom prst="line">
            <a:avLst/>
          </a:prstGeom>
          <a:ln w="9525" cap="flat">
            <a:solidFill>
              <a:srgbClr val="000000"/>
            </a:solidFill>
            <a:prstDash val="solid"/>
            <a:headEnd type="none" w="sm" len="sm"/>
            <a:tailEnd type="none" w="sm" len="sm"/>
          </a:ln>
        </p:spPr>
      </p:sp>
      <p:sp>
        <p:nvSpPr>
          <p:cNvPr id="3" name="TextBox 3"/>
          <p:cNvSpPr txBox="1"/>
          <p:nvPr/>
        </p:nvSpPr>
        <p:spPr>
          <a:xfrm>
            <a:off x="1028700" y="348185"/>
            <a:ext cx="15858390" cy="1000125"/>
          </a:xfrm>
          <a:prstGeom prst="rect">
            <a:avLst/>
          </a:prstGeom>
        </p:spPr>
        <p:txBody>
          <a:bodyPr lIns="0" tIns="0" rIns="0" bIns="0" rtlCol="0" anchor="t">
            <a:spAutoFit/>
          </a:bodyPr>
          <a:lstStyle/>
          <a:p>
            <a:pPr algn="ctr">
              <a:lnSpc>
                <a:spcPts val="7920"/>
              </a:lnSpc>
            </a:pPr>
            <a:r>
              <a:rPr lang="en-US" sz="6600" b="1">
                <a:solidFill>
                  <a:srgbClr val="1C2120"/>
                </a:solidFill>
                <a:latin typeface="Cabin Semi-Bold"/>
                <a:ea typeface="Cabin Semi-Bold"/>
                <a:cs typeface="Cabin Semi-Bold"/>
                <a:sym typeface="Cabin Semi-Bold"/>
              </a:rPr>
              <a:t>LINH HOẠT TIÊU CHÍ SẮP XẾP</a:t>
            </a:r>
          </a:p>
        </p:txBody>
      </p:sp>
      <p:sp>
        <p:nvSpPr>
          <p:cNvPr id="4" name="TextBox 4"/>
          <p:cNvSpPr txBox="1"/>
          <p:nvPr/>
        </p:nvSpPr>
        <p:spPr>
          <a:xfrm>
            <a:off x="431039" y="1837585"/>
            <a:ext cx="17425922" cy="8654138"/>
          </a:xfrm>
          <a:prstGeom prst="rect">
            <a:avLst/>
          </a:prstGeom>
        </p:spPr>
        <p:txBody>
          <a:bodyPr lIns="0" tIns="0" rIns="0" bIns="0" rtlCol="0" anchor="t">
            <a:spAutoFit/>
          </a:bodyPr>
          <a:lstStyle/>
          <a:p>
            <a:pPr marL="879099" lvl="1" indent="-439549" algn="l">
              <a:lnSpc>
                <a:spcPts val="5293"/>
              </a:lnSpc>
              <a:buFont typeface="Arial"/>
              <a:buChar char="•"/>
            </a:pPr>
            <a:r>
              <a:rPr lang="en-US" sz="4071" b="1">
                <a:solidFill>
                  <a:srgbClr val="1C2120"/>
                </a:solidFill>
                <a:latin typeface="Muli Bold"/>
                <a:ea typeface="Muli Bold"/>
                <a:cs typeface="Muli Bold"/>
                <a:sym typeface="Muli Bold"/>
              </a:rPr>
              <a:t>Vấn đề:</a:t>
            </a:r>
            <a:r>
              <a:rPr lang="en-US" sz="4071">
                <a:solidFill>
                  <a:srgbClr val="1C2120"/>
                </a:solidFill>
                <a:latin typeface="Muli"/>
                <a:ea typeface="Muli"/>
                <a:cs typeface="Muli"/>
                <a:sym typeface="Muli"/>
              </a:rPr>
              <a:t> Làm sao để dùng cùng một hàm sắp xếp cho nhiều tiêu chí khác nhau (Tên, Tuổi, Lớp)?</a:t>
            </a:r>
          </a:p>
          <a:p>
            <a:pPr marL="879099" lvl="1" indent="-439549" algn="l">
              <a:lnSpc>
                <a:spcPts val="5293"/>
              </a:lnSpc>
              <a:buFont typeface="Arial"/>
              <a:buChar char="•"/>
            </a:pPr>
            <a:r>
              <a:rPr lang="en-US" sz="4071" b="1">
                <a:solidFill>
                  <a:srgbClr val="1C2120"/>
                </a:solidFill>
                <a:latin typeface="Muli Bold"/>
                <a:ea typeface="Muli Bold"/>
                <a:cs typeface="Muli Bold"/>
                <a:sym typeface="Muli Bold"/>
              </a:rPr>
              <a:t>Giải pháp:</a:t>
            </a:r>
            <a:r>
              <a:rPr lang="en-US" sz="4071">
                <a:solidFill>
                  <a:srgbClr val="1C2120"/>
                </a:solidFill>
                <a:latin typeface="Muli"/>
                <a:ea typeface="Muli"/>
                <a:cs typeface="Muli"/>
                <a:sym typeface="Muli"/>
              </a:rPr>
              <a:t> Sử dụng Con trỏ hàm</a:t>
            </a:r>
          </a:p>
          <a:p>
            <a:pPr marL="879099" lvl="1" indent="-439549" algn="l">
              <a:lnSpc>
                <a:spcPts val="5293"/>
              </a:lnSpc>
              <a:buFont typeface="Arial"/>
              <a:buChar char="•"/>
            </a:pPr>
            <a:r>
              <a:rPr lang="en-US" sz="4071" b="1">
                <a:solidFill>
                  <a:srgbClr val="1C2120"/>
                </a:solidFill>
                <a:latin typeface="Muli Bold"/>
                <a:ea typeface="Muli Bold"/>
                <a:cs typeface="Muli Bold"/>
                <a:sym typeface="Muli Bold"/>
              </a:rPr>
              <a:t>Cấu trúc:</a:t>
            </a:r>
          </a:p>
          <a:p>
            <a:pPr algn="l">
              <a:lnSpc>
                <a:spcPts val="5293"/>
              </a:lnSpc>
            </a:pPr>
            <a:r>
              <a:rPr lang="en-US" sz="4071">
                <a:solidFill>
                  <a:srgbClr val="1C2120"/>
                </a:solidFill>
                <a:latin typeface="Muli"/>
                <a:ea typeface="Muli"/>
                <a:cs typeface="Muli"/>
                <a:sym typeface="Muli"/>
              </a:rPr>
              <a:t>        - Khai báo: int (*cmp)(SinhVien, SinhVien)</a:t>
            </a:r>
          </a:p>
          <a:p>
            <a:pPr algn="l">
              <a:lnSpc>
                <a:spcPts val="5293"/>
              </a:lnSpc>
            </a:pPr>
            <a:r>
              <a:rPr lang="en-US" sz="4071">
                <a:solidFill>
                  <a:srgbClr val="1C2120"/>
                </a:solidFill>
                <a:latin typeface="Muli"/>
                <a:ea typeface="Muli"/>
                <a:cs typeface="Muli"/>
                <a:sym typeface="Muli"/>
              </a:rPr>
              <a:t>        - Các hàm so sánh cụ thể:</a:t>
            </a:r>
          </a:p>
          <a:p>
            <a:pPr marL="1758198" lvl="2" indent="-586066" algn="l">
              <a:lnSpc>
                <a:spcPts val="5293"/>
              </a:lnSpc>
              <a:buFont typeface="Arial"/>
              <a:buChar char="⚬"/>
            </a:pPr>
            <a:r>
              <a:rPr lang="en-US" sz="4071" i="1">
                <a:solidFill>
                  <a:srgbClr val="1C2120"/>
                </a:solidFill>
                <a:latin typeface="Muli Italics"/>
                <a:ea typeface="Muli Italics"/>
                <a:cs typeface="Muli Italics"/>
                <a:sym typeface="Muli Italics"/>
              </a:rPr>
              <a:t>cmpHoTen:</a:t>
            </a:r>
            <a:r>
              <a:rPr lang="en-US" sz="4071">
                <a:solidFill>
                  <a:srgbClr val="1C2120"/>
                </a:solidFill>
                <a:latin typeface="Muli"/>
                <a:ea typeface="Muli"/>
                <a:cs typeface="Muli"/>
                <a:sym typeface="Muli"/>
              </a:rPr>
              <a:t> Dùng strcmp.</a:t>
            </a:r>
          </a:p>
          <a:p>
            <a:pPr marL="1758198" lvl="2" indent="-586066" algn="l">
              <a:lnSpc>
                <a:spcPts val="5293"/>
              </a:lnSpc>
              <a:buFont typeface="Arial"/>
              <a:buChar char="⚬"/>
            </a:pPr>
            <a:r>
              <a:rPr lang="en-US" sz="4071" i="1">
                <a:solidFill>
                  <a:srgbClr val="1C2120"/>
                </a:solidFill>
                <a:latin typeface="Muli Italics"/>
                <a:ea typeface="Muli Italics"/>
                <a:cs typeface="Muli Italics"/>
                <a:sym typeface="Muli Italics"/>
              </a:rPr>
              <a:t>cmpNamSinh:</a:t>
            </a:r>
            <a:r>
              <a:rPr lang="en-US" sz="4071">
                <a:solidFill>
                  <a:srgbClr val="1C2120"/>
                </a:solidFill>
                <a:latin typeface="Muli"/>
                <a:ea typeface="Muli"/>
                <a:cs typeface="Muli"/>
                <a:sym typeface="Muli"/>
              </a:rPr>
              <a:t> Dùng phép trừ số học.</a:t>
            </a:r>
          </a:p>
          <a:p>
            <a:pPr marL="1758198" lvl="2" indent="-586066" algn="l">
              <a:lnSpc>
                <a:spcPts val="5293"/>
              </a:lnSpc>
              <a:buFont typeface="Arial"/>
              <a:buChar char="⚬"/>
            </a:pPr>
            <a:r>
              <a:rPr lang="en-US" sz="4071" i="1">
                <a:solidFill>
                  <a:srgbClr val="1C2120"/>
                </a:solidFill>
                <a:latin typeface="Muli Italics"/>
                <a:ea typeface="Muli Italics"/>
                <a:cs typeface="Muli Italics"/>
                <a:sym typeface="Muli Italics"/>
              </a:rPr>
              <a:t>cmpLop:</a:t>
            </a:r>
            <a:r>
              <a:rPr lang="en-US" sz="4071">
                <a:solidFill>
                  <a:srgbClr val="1C2120"/>
                </a:solidFill>
                <a:latin typeface="Muli"/>
                <a:ea typeface="Muli"/>
                <a:cs typeface="Muli"/>
                <a:sym typeface="Muli"/>
              </a:rPr>
              <a:t> Dùng strcmp.</a:t>
            </a:r>
          </a:p>
          <a:p>
            <a:pPr algn="l">
              <a:lnSpc>
                <a:spcPts val="5293"/>
              </a:lnSpc>
            </a:pPr>
            <a:r>
              <a:rPr lang="en-US" sz="4071" b="1">
                <a:solidFill>
                  <a:srgbClr val="1C2120"/>
                </a:solidFill>
                <a:latin typeface="Muli Bold"/>
                <a:ea typeface="Muli Bold"/>
                <a:cs typeface="Muli Bold"/>
                <a:sym typeface="Muli Bold"/>
              </a:rPr>
              <a:t>Hoạt động:</a:t>
            </a:r>
            <a:r>
              <a:rPr lang="en-US" sz="4071">
                <a:solidFill>
                  <a:srgbClr val="1C2120"/>
                </a:solidFill>
                <a:latin typeface="Muli"/>
                <a:ea typeface="Muli"/>
                <a:cs typeface="Muli"/>
                <a:sym typeface="Muli"/>
              </a:rPr>
              <a:t> Khi gọi hàm sắp xếp (ví dụ bubbleSort), chương trình truyền địa chỉ của hàm so sánh mong muốn vào. Thuật toán sẽ gọi lại hàm đó để quyết định thứ tự.</a:t>
            </a:r>
          </a:p>
          <a:p>
            <a:pPr algn="l">
              <a:lnSpc>
                <a:spcPts val="5293"/>
              </a:lnSpc>
            </a:pPr>
            <a:endParaRPr lang="en-US" sz="4071">
              <a:solidFill>
                <a:srgbClr val="1C2120"/>
              </a:solidFill>
              <a:latin typeface="Muli"/>
              <a:ea typeface="Muli"/>
              <a:cs typeface="Muli"/>
              <a:sym typeface="Mul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AutoShape 2"/>
          <p:cNvSpPr/>
          <p:nvPr/>
        </p:nvSpPr>
        <p:spPr>
          <a:xfrm flipV="1">
            <a:off x="0" y="1534942"/>
            <a:ext cx="18898032" cy="0"/>
          </a:xfrm>
          <a:prstGeom prst="line">
            <a:avLst/>
          </a:prstGeom>
          <a:ln w="9525" cap="flat">
            <a:solidFill>
              <a:srgbClr val="000000"/>
            </a:solidFill>
            <a:prstDash val="solid"/>
            <a:headEnd type="none" w="sm" len="sm"/>
            <a:tailEnd type="none" w="sm" len="sm"/>
          </a:ln>
        </p:spPr>
      </p:sp>
      <p:sp>
        <p:nvSpPr>
          <p:cNvPr id="3" name="TextBox 3"/>
          <p:cNvSpPr txBox="1"/>
          <p:nvPr/>
        </p:nvSpPr>
        <p:spPr>
          <a:xfrm>
            <a:off x="1028700" y="348185"/>
            <a:ext cx="15858390" cy="1000125"/>
          </a:xfrm>
          <a:prstGeom prst="rect">
            <a:avLst/>
          </a:prstGeom>
        </p:spPr>
        <p:txBody>
          <a:bodyPr lIns="0" tIns="0" rIns="0" bIns="0" rtlCol="0" anchor="t">
            <a:spAutoFit/>
          </a:bodyPr>
          <a:lstStyle/>
          <a:p>
            <a:pPr algn="ctr">
              <a:lnSpc>
                <a:spcPts val="7920"/>
              </a:lnSpc>
            </a:pPr>
            <a:r>
              <a:rPr lang="en-US" sz="6600" b="1">
                <a:solidFill>
                  <a:srgbClr val="1C2120"/>
                </a:solidFill>
                <a:latin typeface="Cabin Semi-Bold"/>
                <a:ea typeface="Cabin Semi-Bold"/>
                <a:cs typeface="Cabin Semi-Bold"/>
                <a:sym typeface="Cabin Semi-Bold"/>
              </a:rPr>
              <a:t>CHIẾN LƯỢC SẮP XẾP DỮ LIỆU</a:t>
            </a:r>
          </a:p>
        </p:txBody>
      </p:sp>
      <p:sp>
        <p:nvSpPr>
          <p:cNvPr id="4" name="TextBox 4"/>
          <p:cNvSpPr txBox="1"/>
          <p:nvPr/>
        </p:nvSpPr>
        <p:spPr>
          <a:xfrm>
            <a:off x="431039" y="1837585"/>
            <a:ext cx="17425922" cy="7987388"/>
          </a:xfrm>
          <a:prstGeom prst="rect">
            <a:avLst/>
          </a:prstGeom>
        </p:spPr>
        <p:txBody>
          <a:bodyPr lIns="0" tIns="0" rIns="0" bIns="0" rtlCol="0" anchor="t">
            <a:spAutoFit/>
          </a:bodyPr>
          <a:lstStyle/>
          <a:p>
            <a:pPr algn="l">
              <a:lnSpc>
                <a:spcPts val="5293"/>
              </a:lnSpc>
            </a:pPr>
            <a:r>
              <a:rPr lang="en-US" sz="4071" b="1">
                <a:solidFill>
                  <a:srgbClr val="1C2120"/>
                </a:solidFill>
                <a:latin typeface="Muli Bold"/>
                <a:ea typeface="Muli Bold"/>
                <a:cs typeface="Muli Bold"/>
                <a:sym typeface="Muli Bold"/>
              </a:rPr>
              <a:t>Triển khai 5 thuật toán với 2 chiến lược khác nhau:</a:t>
            </a:r>
          </a:p>
          <a:p>
            <a:pPr marL="879099" lvl="1" indent="-439549" algn="l">
              <a:lnSpc>
                <a:spcPts val="5293"/>
              </a:lnSpc>
              <a:buFont typeface="Arial"/>
              <a:buChar char="•"/>
            </a:pPr>
            <a:r>
              <a:rPr lang="en-US" sz="4071" b="1">
                <a:solidFill>
                  <a:srgbClr val="1C2120"/>
                </a:solidFill>
                <a:latin typeface="Muli Bold"/>
                <a:ea typeface="Muli Bold"/>
                <a:cs typeface="Muli Bold"/>
                <a:sym typeface="Muli Bold"/>
              </a:rPr>
              <a:t>Chiến lược Tráo đổi Dữ liệu:</a:t>
            </a:r>
          </a:p>
          <a:p>
            <a:pPr algn="l">
              <a:lnSpc>
                <a:spcPts val="5293"/>
              </a:lnSpc>
            </a:pPr>
            <a:r>
              <a:rPr lang="en-US" sz="4071">
                <a:solidFill>
                  <a:srgbClr val="1C2120"/>
                </a:solidFill>
                <a:latin typeface="Muli"/>
                <a:ea typeface="Muli"/>
                <a:cs typeface="Muli"/>
                <a:sym typeface="Muli"/>
              </a:rPr>
              <a:t>        - Bubble Sort, Selection Sort, Insertion Sort, Quick Sort.</a:t>
            </a:r>
          </a:p>
          <a:p>
            <a:pPr algn="l">
              <a:lnSpc>
                <a:spcPts val="5293"/>
              </a:lnSpc>
            </a:pPr>
            <a:r>
              <a:rPr lang="en-US" sz="4071">
                <a:solidFill>
                  <a:srgbClr val="1C2120"/>
                </a:solidFill>
                <a:latin typeface="Muli"/>
                <a:ea typeface="Muli"/>
                <a:cs typeface="Muli"/>
                <a:sym typeface="Muli"/>
              </a:rPr>
              <a:t>        - Cách làm: Giữ nguyên vị trí các Node, chỉ sao chép nội dung SinhVien từ Node này sang Node kia khi cần đổi chỗ.</a:t>
            </a:r>
          </a:p>
          <a:p>
            <a:pPr marL="879099" lvl="1" indent="-439549" algn="l">
              <a:lnSpc>
                <a:spcPts val="5293"/>
              </a:lnSpc>
              <a:buFont typeface="Arial"/>
              <a:buChar char="•"/>
            </a:pPr>
            <a:r>
              <a:rPr lang="en-US" sz="4071" b="1">
                <a:solidFill>
                  <a:srgbClr val="1C2120"/>
                </a:solidFill>
                <a:latin typeface="Muli Bold"/>
                <a:ea typeface="Muli Bold"/>
                <a:cs typeface="Muli Bold"/>
                <a:sym typeface="Muli Bold"/>
              </a:rPr>
              <a:t>Chiến lược Thay đổi Liên kết:</a:t>
            </a:r>
          </a:p>
          <a:p>
            <a:pPr algn="l">
              <a:lnSpc>
                <a:spcPts val="5293"/>
              </a:lnSpc>
            </a:pPr>
            <a:r>
              <a:rPr lang="en-US" sz="4071">
                <a:solidFill>
                  <a:srgbClr val="1C2120"/>
                </a:solidFill>
                <a:latin typeface="Muli"/>
                <a:ea typeface="Muli"/>
                <a:cs typeface="Muli"/>
                <a:sym typeface="Muli"/>
              </a:rPr>
              <a:t>        - Merge Sort.</a:t>
            </a:r>
          </a:p>
          <a:p>
            <a:pPr algn="l">
              <a:lnSpc>
                <a:spcPts val="5293"/>
              </a:lnSpc>
            </a:pPr>
            <a:r>
              <a:rPr lang="en-US" sz="4071">
                <a:solidFill>
                  <a:srgbClr val="1C2120"/>
                </a:solidFill>
                <a:latin typeface="Muli"/>
                <a:ea typeface="Muli"/>
                <a:cs typeface="Muli"/>
                <a:sym typeface="Muli"/>
              </a:rPr>
              <a:t>        - Cách làm: Không sao chép dữ liệu SinhVien. Thay vào đó, thuật toán cắt danh sách (splitList) và nối lại các con trỏ next/prev (mergeList) để sắp xếp lại trật tự các Node. Đây là cách tối ưu nhất cho Danh sách liên kết lớn.</a:t>
            </a:r>
          </a:p>
          <a:p>
            <a:pPr algn="l">
              <a:lnSpc>
                <a:spcPts val="5293"/>
              </a:lnSpc>
            </a:pPr>
            <a:endParaRPr lang="en-US" sz="4071">
              <a:solidFill>
                <a:srgbClr val="1C2120"/>
              </a:solidFill>
              <a:latin typeface="Muli"/>
              <a:ea typeface="Muli"/>
              <a:cs typeface="Muli"/>
              <a:sym typeface="Mul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AutoShape 2"/>
          <p:cNvSpPr/>
          <p:nvPr/>
        </p:nvSpPr>
        <p:spPr>
          <a:xfrm flipV="1">
            <a:off x="0" y="2030163"/>
            <a:ext cx="18898032" cy="0"/>
          </a:xfrm>
          <a:prstGeom prst="line">
            <a:avLst/>
          </a:prstGeom>
          <a:ln w="9525" cap="flat">
            <a:solidFill>
              <a:srgbClr val="000000"/>
            </a:solidFill>
            <a:prstDash val="solid"/>
            <a:headEnd type="none" w="sm" len="sm"/>
            <a:tailEnd type="none" w="sm" len="sm"/>
          </a:ln>
        </p:spPr>
      </p:sp>
      <p:sp>
        <p:nvSpPr>
          <p:cNvPr id="3" name="TextBox 3"/>
          <p:cNvSpPr txBox="1"/>
          <p:nvPr/>
        </p:nvSpPr>
        <p:spPr>
          <a:xfrm>
            <a:off x="1028700" y="528638"/>
            <a:ext cx="15858390" cy="1000125"/>
          </a:xfrm>
          <a:prstGeom prst="rect">
            <a:avLst/>
          </a:prstGeom>
        </p:spPr>
        <p:txBody>
          <a:bodyPr lIns="0" tIns="0" rIns="0" bIns="0" rtlCol="0" anchor="t">
            <a:spAutoFit/>
          </a:bodyPr>
          <a:lstStyle/>
          <a:p>
            <a:pPr algn="ctr">
              <a:lnSpc>
                <a:spcPts val="7920"/>
              </a:lnSpc>
            </a:pPr>
            <a:r>
              <a:rPr lang="en-US" sz="6600" b="1">
                <a:solidFill>
                  <a:srgbClr val="1C2120"/>
                </a:solidFill>
                <a:latin typeface="Cabin Semi-Bold"/>
                <a:ea typeface="Cabin Semi-Bold"/>
                <a:cs typeface="Cabin Semi-Bold"/>
                <a:sym typeface="Cabin Semi-Bold"/>
              </a:rPr>
              <a:t>KẾT QUẢ THỰC NGHIỆM</a:t>
            </a:r>
          </a:p>
        </p:txBody>
      </p:sp>
      <p:sp>
        <p:nvSpPr>
          <p:cNvPr id="4" name="TextBox 4"/>
          <p:cNvSpPr txBox="1"/>
          <p:nvPr/>
        </p:nvSpPr>
        <p:spPr>
          <a:xfrm>
            <a:off x="431039" y="3131006"/>
            <a:ext cx="17425922" cy="3986888"/>
          </a:xfrm>
          <a:prstGeom prst="rect">
            <a:avLst/>
          </a:prstGeom>
        </p:spPr>
        <p:txBody>
          <a:bodyPr lIns="0" tIns="0" rIns="0" bIns="0" rtlCol="0" anchor="t">
            <a:spAutoFit/>
          </a:bodyPr>
          <a:lstStyle/>
          <a:p>
            <a:pPr algn="l">
              <a:lnSpc>
                <a:spcPts val="5293"/>
              </a:lnSpc>
            </a:pPr>
            <a:r>
              <a:rPr lang="en-US" sz="4071" b="1">
                <a:solidFill>
                  <a:srgbClr val="1C2120"/>
                </a:solidFill>
                <a:latin typeface="Muli Bold"/>
                <a:ea typeface="Muli Bold"/>
                <a:cs typeface="Muli Bold"/>
                <a:sym typeface="Muli Bold"/>
              </a:rPr>
              <a:t>Chức năng đã hoàn thiện:</a:t>
            </a:r>
          </a:p>
          <a:p>
            <a:pPr marL="879099" lvl="1" indent="-439549" algn="l">
              <a:lnSpc>
                <a:spcPts val="5293"/>
              </a:lnSpc>
              <a:buFont typeface="Arial"/>
              <a:buChar char="•"/>
            </a:pPr>
            <a:r>
              <a:rPr lang="en-US" sz="4071">
                <a:solidFill>
                  <a:srgbClr val="1C2120"/>
                </a:solidFill>
                <a:latin typeface="Muli"/>
                <a:ea typeface="Muli"/>
                <a:cs typeface="Muli"/>
                <a:sym typeface="Muli"/>
              </a:rPr>
              <a:t>Đọc thành công file dữ liệu sinhvien.txt</a:t>
            </a:r>
          </a:p>
          <a:p>
            <a:pPr marL="879099" lvl="1" indent="-439549" algn="l">
              <a:lnSpc>
                <a:spcPts val="5293"/>
              </a:lnSpc>
              <a:buFont typeface="Arial"/>
              <a:buChar char="•"/>
            </a:pPr>
            <a:r>
              <a:rPr lang="en-US" sz="4071">
                <a:solidFill>
                  <a:srgbClr val="1C2120"/>
                </a:solidFill>
                <a:latin typeface="Muli"/>
                <a:ea typeface="Muli"/>
                <a:cs typeface="Muli"/>
                <a:sym typeface="Muli"/>
              </a:rPr>
              <a:t>Hiển thị danh sách trực quan trên màn hình Console.</a:t>
            </a:r>
          </a:p>
          <a:p>
            <a:pPr marL="879099" lvl="1" indent="-439549" algn="l">
              <a:lnSpc>
                <a:spcPts val="5293"/>
              </a:lnSpc>
              <a:buFont typeface="Arial"/>
              <a:buChar char="•"/>
            </a:pPr>
            <a:r>
              <a:rPr lang="en-US" sz="4071">
                <a:solidFill>
                  <a:srgbClr val="1C2120"/>
                </a:solidFill>
                <a:latin typeface="Muli"/>
                <a:ea typeface="Muli"/>
                <a:cs typeface="Muli"/>
                <a:sym typeface="Muli"/>
              </a:rPr>
              <a:t>Thực hiện thành công 5 thuật toán sắp xếp theo 3 tiêu chí (Tên, Năm sinh, Lớp).</a:t>
            </a:r>
          </a:p>
          <a:p>
            <a:pPr algn="l">
              <a:lnSpc>
                <a:spcPts val="5293"/>
              </a:lnSpc>
            </a:pPr>
            <a:endParaRPr lang="en-US" sz="4071">
              <a:solidFill>
                <a:srgbClr val="1C2120"/>
              </a:solidFill>
              <a:latin typeface="Muli"/>
              <a:ea typeface="Muli"/>
              <a:cs typeface="Muli"/>
              <a:sym typeface="Mul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AutoShape 2"/>
          <p:cNvSpPr/>
          <p:nvPr/>
        </p:nvSpPr>
        <p:spPr>
          <a:xfrm>
            <a:off x="0" y="2445908"/>
            <a:ext cx="18422794" cy="0"/>
          </a:xfrm>
          <a:prstGeom prst="line">
            <a:avLst/>
          </a:prstGeom>
          <a:ln w="9525" cap="flat">
            <a:solidFill>
              <a:srgbClr val="000000"/>
            </a:solidFill>
            <a:prstDash val="solid"/>
            <a:headEnd type="none" w="sm" len="sm"/>
            <a:tailEnd type="none" w="sm" len="sm"/>
          </a:ln>
        </p:spPr>
      </p:sp>
      <p:sp>
        <p:nvSpPr>
          <p:cNvPr id="3" name="AutoShape 3"/>
          <p:cNvSpPr/>
          <p:nvPr/>
        </p:nvSpPr>
        <p:spPr>
          <a:xfrm rot="5397909">
            <a:off x="2187359" y="6366457"/>
            <a:ext cx="7831569" cy="0"/>
          </a:xfrm>
          <a:prstGeom prst="line">
            <a:avLst/>
          </a:prstGeom>
          <a:ln w="9525" cap="flat">
            <a:solidFill>
              <a:srgbClr val="000000"/>
            </a:solidFill>
            <a:prstDash val="solid"/>
            <a:headEnd type="none" w="sm" len="sm"/>
            <a:tailEnd type="none" w="sm" len="sm"/>
          </a:ln>
        </p:spPr>
      </p:sp>
      <p:sp>
        <p:nvSpPr>
          <p:cNvPr id="4" name="AutoShape 4"/>
          <p:cNvSpPr/>
          <p:nvPr/>
        </p:nvSpPr>
        <p:spPr>
          <a:xfrm rot="5397909">
            <a:off x="8283359" y="6366457"/>
            <a:ext cx="7831569" cy="0"/>
          </a:xfrm>
          <a:prstGeom prst="line">
            <a:avLst/>
          </a:prstGeom>
          <a:ln w="9525" cap="flat">
            <a:solidFill>
              <a:srgbClr val="000000"/>
            </a:solidFill>
            <a:prstDash val="solid"/>
            <a:headEnd type="none" w="sm" len="sm"/>
            <a:tailEnd type="none" w="sm" len="sm"/>
          </a:ln>
        </p:spPr>
      </p:sp>
      <p:sp>
        <p:nvSpPr>
          <p:cNvPr id="5" name="Freeform 5"/>
          <p:cNvSpPr/>
          <p:nvPr/>
        </p:nvSpPr>
        <p:spPr>
          <a:xfrm>
            <a:off x="246350" y="5551122"/>
            <a:ext cx="5629275" cy="4114800"/>
          </a:xfrm>
          <a:custGeom>
            <a:avLst/>
            <a:gdLst/>
            <a:ahLst/>
            <a:cxnLst/>
            <a:rect l="l" t="t" r="r" b="b"/>
            <a:pathLst>
              <a:path w="5629275" h="4114800">
                <a:moveTo>
                  <a:pt x="0" y="0"/>
                </a:moveTo>
                <a:lnTo>
                  <a:pt x="5629275" y="0"/>
                </a:lnTo>
                <a:lnTo>
                  <a:pt x="5629275" y="4114800"/>
                </a:lnTo>
                <a:lnTo>
                  <a:pt x="0" y="4114800"/>
                </a:lnTo>
                <a:lnTo>
                  <a:pt x="0" y="0"/>
                </a:lnTo>
                <a:close/>
              </a:path>
            </a:pathLst>
          </a:custGeom>
          <a:blipFill>
            <a:blip r:embed="rId2"/>
            <a:stretch>
              <a:fillRect l="-7997" t="-7540" r="-20153" b="-25000"/>
            </a:stretch>
          </a:blipFill>
        </p:spPr>
      </p:sp>
      <p:sp>
        <p:nvSpPr>
          <p:cNvPr id="6" name="Freeform 6"/>
          <p:cNvSpPr/>
          <p:nvPr/>
        </p:nvSpPr>
        <p:spPr>
          <a:xfrm>
            <a:off x="7039989" y="5666084"/>
            <a:ext cx="3943887" cy="3884876"/>
          </a:xfrm>
          <a:custGeom>
            <a:avLst/>
            <a:gdLst/>
            <a:ahLst/>
            <a:cxnLst/>
            <a:rect l="l" t="t" r="r" b="b"/>
            <a:pathLst>
              <a:path w="3943887" h="3884876">
                <a:moveTo>
                  <a:pt x="0" y="0"/>
                </a:moveTo>
                <a:lnTo>
                  <a:pt x="3943887" y="0"/>
                </a:lnTo>
                <a:lnTo>
                  <a:pt x="3943887" y="3884876"/>
                </a:lnTo>
                <a:lnTo>
                  <a:pt x="0" y="3884876"/>
                </a:lnTo>
                <a:lnTo>
                  <a:pt x="0" y="0"/>
                </a:lnTo>
                <a:close/>
              </a:path>
            </a:pathLst>
          </a:custGeom>
          <a:blipFill>
            <a:blip r:embed="rId3"/>
            <a:stretch>
              <a:fillRect l="-18264" t="-19700" r="-18835" b="-19481"/>
            </a:stretch>
          </a:blipFill>
        </p:spPr>
      </p:sp>
      <p:sp>
        <p:nvSpPr>
          <p:cNvPr id="7" name="Freeform 7"/>
          <p:cNvSpPr/>
          <p:nvPr/>
        </p:nvSpPr>
        <p:spPr>
          <a:xfrm>
            <a:off x="13139737" y="5289980"/>
            <a:ext cx="4235664" cy="4997020"/>
          </a:xfrm>
          <a:custGeom>
            <a:avLst/>
            <a:gdLst/>
            <a:ahLst/>
            <a:cxnLst/>
            <a:rect l="l" t="t" r="r" b="b"/>
            <a:pathLst>
              <a:path w="4235664" h="4997020">
                <a:moveTo>
                  <a:pt x="0" y="0"/>
                </a:moveTo>
                <a:lnTo>
                  <a:pt x="4235665" y="0"/>
                </a:lnTo>
                <a:lnTo>
                  <a:pt x="4235665" y="4997020"/>
                </a:lnTo>
                <a:lnTo>
                  <a:pt x="0" y="4997020"/>
                </a:lnTo>
                <a:lnTo>
                  <a:pt x="0" y="0"/>
                </a:lnTo>
                <a:close/>
              </a:path>
            </a:pathLst>
          </a:custGeom>
          <a:blipFill>
            <a:blip r:embed="rId4"/>
            <a:stretch>
              <a:fillRect l="-4211" t="-2479" r="-205017" b="-17765"/>
            </a:stretch>
          </a:blipFill>
        </p:spPr>
      </p:sp>
      <p:sp>
        <p:nvSpPr>
          <p:cNvPr id="8" name="TextBox 8"/>
          <p:cNvSpPr txBox="1"/>
          <p:nvPr/>
        </p:nvSpPr>
        <p:spPr>
          <a:xfrm>
            <a:off x="714627" y="803600"/>
            <a:ext cx="9829295" cy="1057275"/>
          </a:xfrm>
          <a:prstGeom prst="rect">
            <a:avLst/>
          </a:prstGeom>
        </p:spPr>
        <p:txBody>
          <a:bodyPr lIns="0" tIns="0" rIns="0" bIns="0" rtlCol="0" anchor="t">
            <a:spAutoFit/>
          </a:bodyPr>
          <a:lstStyle/>
          <a:p>
            <a:pPr algn="l">
              <a:lnSpc>
                <a:spcPts val="8399"/>
              </a:lnSpc>
            </a:pPr>
            <a:r>
              <a:rPr lang="en-US" sz="6999" b="1">
                <a:solidFill>
                  <a:srgbClr val="1C2120"/>
                </a:solidFill>
                <a:latin typeface="Cabin Semi-Bold"/>
                <a:ea typeface="Cabin Semi-Bold"/>
                <a:cs typeface="Cabin Semi-Bold"/>
                <a:sym typeface="Cabin Semi-Bold"/>
              </a:rPr>
              <a:t>HƯỚNG PHÁT TRIỂN</a:t>
            </a:r>
          </a:p>
        </p:txBody>
      </p:sp>
      <p:sp>
        <p:nvSpPr>
          <p:cNvPr id="9" name="TextBox 9"/>
          <p:cNvSpPr txBox="1"/>
          <p:nvPr/>
        </p:nvSpPr>
        <p:spPr>
          <a:xfrm>
            <a:off x="768925" y="3274946"/>
            <a:ext cx="4584125" cy="1571625"/>
          </a:xfrm>
          <a:prstGeom prst="rect">
            <a:avLst/>
          </a:prstGeom>
        </p:spPr>
        <p:txBody>
          <a:bodyPr lIns="0" tIns="0" rIns="0" bIns="0" rtlCol="0" anchor="t">
            <a:spAutoFit/>
          </a:bodyPr>
          <a:lstStyle/>
          <a:p>
            <a:pPr marL="0" lvl="0" indent="0" algn="l">
              <a:lnSpc>
                <a:spcPts val="4199"/>
              </a:lnSpc>
              <a:spcBef>
                <a:spcPct val="0"/>
              </a:spcBef>
            </a:pPr>
            <a:r>
              <a:rPr lang="en-US" sz="3499" b="1">
                <a:solidFill>
                  <a:srgbClr val="1C2120"/>
                </a:solidFill>
                <a:latin typeface="Cabin Semi-Bold"/>
                <a:ea typeface="Cabin Semi-Bold"/>
                <a:cs typeface="Cabin Semi-Bold"/>
                <a:sym typeface="Cabin Semi-Bold"/>
              </a:rPr>
              <a:t>Chức năng: Bổ sung Tìm kiếm (theo tên/mã), Xóa sinh viên, Ghi file</a:t>
            </a:r>
          </a:p>
        </p:txBody>
      </p:sp>
      <p:sp>
        <p:nvSpPr>
          <p:cNvPr id="10" name="TextBox 10"/>
          <p:cNvSpPr txBox="1"/>
          <p:nvPr/>
        </p:nvSpPr>
        <p:spPr>
          <a:xfrm>
            <a:off x="6851938" y="3274946"/>
            <a:ext cx="4584125" cy="1571625"/>
          </a:xfrm>
          <a:prstGeom prst="rect">
            <a:avLst/>
          </a:prstGeom>
        </p:spPr>
        <p:txBody>
          <a:bodyPr lIns="0" tIns="0" rIns="0" bIns="0" rtlCol="0" anchor="t">
            <a:spAutoFit/>
          </a:bodyPr>
          <a:lstStyle/>
          <a:p>
            <a:pPr marL="0" lvl="0" indent="0" algn="l">
              <a:lnSpc>
                <a:spcPts val="4199"/>
              </a:lnSpc>
              <a:spcBef>
                <a:spcPct val="0"/>
              </a:spcBef>
            </a:pPr>
            <a:r>
              <a:rPr lang="en-US" sz="3499" b="1">
                <a:solidFill>
                  <a:srgbClr val="1C2120"/>
                </a:solidFill>
                <a:latin typeface="Cabin Semi-Bold"/>
                <a:ea typeface="Cabin Semi-Bold"/>
                <a:cs typeface="Cabin Semi-Bold"/>
                <a:sym typeface="Cabin Semi-Bold"/>
              </a:rPr>
              <a:t>Tối ưu: Cài đặt cấu trúc dữ liệu nâng cao hơn để tìm kiếm nhanh</a:t>
            </a:r>
          </a:p>
        </p:txBody>
      </p:sp>
      <p:sp>
        <p:nvSpPr>
          <p:cNvPr id="11" name="TextBox 11"/>
          <p:cNvSpPr txBox="1"/>
          <p:nvPr/>
        </p:nvSpPr>
        <p:spPr>
          <a:xfrm>
            <a:off x="12660027" y="3274946"/>
            <a:ext cx="5462016" cy="1571625"/>
          </a:xfrm>
          <a:prstGeom prst="rect">
            <a:avLst/>
          </a:prstGeom>
        </p:spPr>
        <p:txBody>
          <a:bodyPr lIns="0" tIns="0" rIns="0" bIns="0" rtlCol="0" anchor="t">
            <a:spAutoFit/>
          </a:bodyPr>
          <a:lstStyle/>
          <a:p>
            <a:pPr marL="0" lvl="0" indent="0" algn="l">
              <a:lnSpc>
                <a:spcPts val="4199"/>
              </a:lnSpc>
              <a:spcBef>
                <a:spcPct val="0"/>
              </a:spcBef>
            </a:pPr>
            <a:r>
              <a:rPr lang="en-US" sz="3499" b="1">
                <a:solidFill>
                  <a:srgbClr val="1C2120"/>
                </a:solidFill>
                <a:latin typeface="Cabin Semi-Bold"/>
                <a:ea typeface="Cabin Semi-Bold"/>
                <a:cs typeface="Cabin Semi-Bold"/>
                <a:sym typeface="Cabin Semi-Bold"/>
              </a:rPr>
              <a:t>Giao diện: Nâng cấp lên giao diện đồ họa để thân thiện hơn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C744"/>
        </a:solidFill>
        <a:effectLst/>
      </p:bgPr>
    </p:bg>
    <p:spTree>
      <p:nvGrpSpPr>
        <p:cNvPr id="1" name=""/>
        <p:cNvGrpSpPr/>
        <p:nvPr/>
      </p:nvGrpSpPr>
      <p:grpSpPr>
        <a:xfrm>
          <a:off x="0" y="0"/>
          <a:ext cx="0" cy="0"/>
          <a:chOff x="0" y="0"/>
          <a:chExt cx="0" cy="0"/>
        </a:xfrm>
      </p:grpSpPr>
      <p:sp>
        <p:nvSpPr>
          <p:cNvPr id="2" name="TextBox 2"/>
          <p:cNvSpPr txBox="1"/>
          <p:nvPr/>
        </p:nvSpPr>
        <p:spPr>
          <a:xfrm>
            <a:off x="1028700" y="3188428"/>
            <a:ext cx="15858390" cy="2771775"/>
          </a:xfrm>
          <a:prstGeom prst="rect">
            <a:avLst/>
          </a:prstGeom>
        </p:spPr>
        <p:txBody>
          <a:bodyPr lIns="0" tIns="0" rIns="0" bIns="0" rtlCol="0" anchor="t">
            <a:spAutoFit/>
          </a:bodyPr>
          <a:lstStyle/>
          <a:p>
            <a:pPr algn="ctr">
              <a:lnSpc>
                <a:spcPts val="10919"/>
              </a:lnSpc>
            </a:pPr>
            <a:r>
              <a:rPr lang="en-US" sz="9099" b="1">
                <a:solidFill>
                  <a:srgbClr val="1C2120"/>
                </a:solidFill>
                <a:latin typeface="Cabin Semi-Bold"/>
                <a:ea typeface="Cabin Semi-Bold"/>
                <a:cs typeface="Cabin Semi-Bold"/>
                <a:sym typeface="Cabin Semi-Bold"/>
              </a:rPr>
              <a:t>CẢM ƠN MỌI NGƯỜI </a:t>
            </a:r>
          </a:p>
          <a:p>
            <a:pPr algn="ctr">
              <a:lnSpc>
                <a:spcPts val="10919"/>
              </a:lnSpc>
            </a:pPr>
            <a:r>
              <a:rPr lang="en-US" sz="9099" b="1">
                <a:solidFill>
                  <a:srgbClr val="1C2120"/>
                </a:solidFill>
                <a:latin typeface="Cabin Semi-Bold"/>
                <a:ea typeface="Cabin Semi-Bold"/>
                <a:cs typeface="Cabin Semi-Bold"/>
                <a:sym typeface="Cabin Semi-Bold"/>
              </a:rPr>
              <a:t>ĐÃ LẮNG NGHE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1067</Words>
  <Application>Microsoft Office PowerPoint</Application>
  <PresentationFormat>Custom</PresentationFormat>
  <Paragraphs>89</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Muli Bold Italics</vt:lpstr>
      <vt:lpstr>Muli Italics</vt:lpstr>
      <vt:lpstr>Muli</vt:lpstr>
      <vt:lpstr>Calibri</vt:lpstr>
      <vt:lpstr>Arial Bold</vt:lpstr>
      <vt:lpstr>Cabin</vt:lpstr>
      <vt:lpstr>Arial</vt:lpstr>
      <vt:lpstr>Cabin Semi-Bold</vt:lpstr>
      <vt:lpstr>Muli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Vàng Xanh dương Sáng Đơn giản và Tối giản Luận văn Đại học Bản thuyết trình Giáo dục</dc:title>
  <cp:lastModifiedBy>Lam Hà</cp:lastModifiedBy>
  <cp:revision>2</cp:revision>
  <dcterms:created xsi:type="dcterms:W3CDTF">2006-08-16T00:00:00Z</dcterms:created>
  <dcterms:modified xsi:type="dcterms:W3CDTF">2026-01-10T06:10:39Z</dcterms:modified>
  <dc:identifier>DAG84QzyFvQ</dc:identifier>
</cp:coreProperties>
</file>